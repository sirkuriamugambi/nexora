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32E"/>
                </a:solidFill>
                <a:latin typeface="Calibri"/>
              </a:defRPr>
            </a:pPr>
            <a:r>
              <a:rPr sz="1300" b="0" i="0" u="none" strike="noStrike">
                <a:solidFill>
                  <a:srgbClr val="16232E"/>
                </a:solidFill>
                <a:latin typeface="Calibri"/>
              </a:rPr>
              <a:t>Hours per payroll run</a:t>
            </a:r>
          </a:p>
        </c:rich>
      </c:tx>
      <c:layout/>
      <c:overlay val="0"/>
    </c:title>
    <c:autoTitleDeleted val="0"/>
    <c:plotArea>
      <c:layout/>
      <c:barChart>
        <c:barDir val="bar"/>
        <c:grouping val="clustered"/>
        <c:varyColors val="0"/>
        <c:ser>
          <c:idx val="0"/>
          <c:order val="0"/>
          <c:tx>
            <c:strRef>
              <c:f>Sheet1!$B$1</c:f>
              <c:strCache>
                <c:ptCount val="1"/>
                <c:pt idx="0">
                  <c:v>By hand</c:v>
                </c:pt>
              </c:strCache>
            </c:strRef>
          </c:tx>
          <c:spPr>
            <a:solidFill>
              <a:srgbClr val="3E9BD6"/>
            </a:solidFill>
            <a:effectLst/>
          </c:spPr>
          <c:invertIfNegative val="0"/>
          <c:dLbls>
            <c:numFmt formatCode="#,##0" sourceLinked="0"/>
            <c:txPr>
              <a:bodyPr/>
              <a:lstStyle/>
              <a:p>
                <a:pPr>
                  <a:defRPr b="0" i="0" strike="noStrike" sz="900" u="none">
                    <a:solidFill>
                      <a:srgbClr val="16232E"/>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Enter data</c:v>
                  </c:pt>
                  <c:pt idx="1">
                    <c:v>Calculate &amp; check</c:v>
                  </c:pt>
                  <c:pt idx="2">
                    <c:v>Payslips &amp; P9s</c:v>
                  </c:pt>
                  <c:pt idx="3">
                    <c:v>Bank &amp; statutory</c:v>
                  </c:pt>
                  <c:pt idx="4">
                    <c:v>AX journal</c:v>
                  </c:pt>
                </c:lvl>
              </c:multiLvlStrCache>
            </c:multiLvlStrRef>
          </c:cat>
          <c:val>
            <c:numRef>
              <c:f>Sheet1!$B$2:$B$6</c:f>
              <c:numCache>
                <c:formatCode>General</c:formatCode>
                <c:ptCount val="5"/>
                <c:pt idx="0">
                  <c:v>1.5</c:v>
                </c:pt>
                <c:pt idx="1">
                  <c:v>5.5</c:v>
                </c:pt>
                <c:pt idx="2">
                  <c:v>2</c:v>
                </c:pt>
                <c:pt idx="3">
                  <c:v>2.5</c:v>
                </c:pt>
                <c:pt idx="4">
                  <c:v>2.5</c:v>
                </c:pt>
              </c:numCache>
            </c:numRef>
          </c:val>
        </c:ser>
        <c:ser>
          <c:idx val="1"/>
          <c:order val="1"/>
          <c:tx>
            <c:strRef>
              <c:f>Sheet1!$C$1</c:f>
              <c:strCache>
                <c:ptCount val="1"/>
                <c:pt idx="0">
                  <c:v>Nexora</c:v>
                </c:pt>
              </c:strCache>
            </c:strRef>
          </c:tx>
          <c:spPr>
            <a:solidFill>
              <a:srgbClr val="1B7A4F"/>
            </a:solidFill>
            <a:effectLst/>
          </c:spPr>
          <c:invertIfNegative val="0"/>
          <c:dLbls>
            <c:numFmt formatCode="#,##0" sourceLinked="0"/>
            <c:txPr>
              <a:bodyPr/>
              <a:lstStyle/>
              <a:p>
                <a:pPr>
                  <a:defRPr b="0" i="0" strike="noStrike" sz="900" u="none">
                    <a:solidFill>
                      <a:srgbClr val="16232E"/>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Enter data</c:v>
                  </c:pt>
                  <c:pt idx="1">
                    <c:v>Calculate &amp; check</c:v>
                  </c:pt>
                  <c:pt idx="2">
                    <c:v>Payslips &amp; P9s</c:v>
                  </c:pt>
                  <c:pt idx="3">
                    <c:v>Bank &amp; statutory</c:v>
                  </c:pt>
                  <c:pt idx="4">
                    <c:v>AX journal</c:v>
                  </c:pt>
                </c:lvl>
              </c:multiLvlStrCache>
            </c:multiLvlStrRef>
          </c:cat>
          <c:val>
            <c:numRef>
              <c:f>Sheet1!$C$2:$C$6</c:f>
              <c:numCache>
                <c:formatCode>General</c:formatCode>
                <c:ptCount val="5"/>
                <c:pt idx="0">
                  <c:v>0.1</c:v>
                </c:pt>
                <c:pt idx="1">
                  <c:v>0.2</c:v>
                </c:pt>
                <c:pt idx="2">
                  <c:v>0.1</c:v>
                </c:pt>
                <c:pt idx="3">
                  <c:v>0.05</c:v>
                </c:pt>
                <c:pt idx="4">
                  <c:v>0.05</c:v>
                </c:pt>
              </c:numCache>
            </c:numRef>
          </c:val>
        </c:ser>
        <c:dLbls>
          <c:numFmt formatCode="#,##0" sourceLinked="0"/>
          <c:txPr>
            <a:bodyPr/>
            <a:lstStyle/>
            <a:p>
              <a:pPr>
                <a:defRPr b="0" i="0" strike="noStrike" sz="900" u="none">
                  <a:solidFill>
                    <a:srgbClr val="16232E"/>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D6E7C"/>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6ED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D6E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this deck comes from the system running on Chrysal's own 46 employees, compared against Tony's own November 2024 workbook — the file the system was built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audience's first question in the first 30 seconds, then spend the deck showing the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language, no software terms. Five steps, and note where the human decision sits —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number gets challenged it will be net pay — it is the figure the bank statement confirms. Seven cents on 3.67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can hide two errors that cancel out; one employee line by line cannot. Offer to repeat this live for any employee Tony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manager is the hardest thing in this payroll and the thing Tony flagged himself — it lands exactly. Handle the formula correction generously: the point is that comparing two independent calculations is what surfaced it, which is the case for running them side by side, not a criticism of anyone. The workbook's own total never changed — the money was always right, just filed to the wrong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this is 7.25M when gross pay is 7.19M: this is the true cash cost — pay actually disbursed plus every employer contribution. The non-cash fringe benefit is excluded, exactly as Tony's file excludes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gaps is what makes the matches believable. None of the three affects net pay or remittances.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manual hours are an estimate, not a measurement. The accuracy figures elsewhere ARE measured, and keeping that distinction is what makes both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already work and were produced from the November data during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Niels asks how we know it is secure: we attacked it ourselves as an employee account and as an outside sign-up, found two real issues — data readable straight from the database API, and a sign-up that could approve itself — and closed both. Still on the list: two-factor for the finance-manager accounts, and confirming backups and data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parallel run: low risk, puts the decision in Tony's hands, and is the natural next step after a match this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375A"/>
        </a:solidFill>
      </p:bgPr>
    </p:bg>
    <p:spTree>
      <p:nvGrpSpPr>
        <p:cNvPr id="1" name=""/>
        <p:cNvGrpSpPr/>
        <p:nvPr/>
      </p:nvGrpSpPr>
      <p:grpSpPr>
        <a:xfrm>
          <a:off x="0" y="0"/>
          <a:ext cx="0" cy="0"/>
          <a:chOff x="0" y="0"/>
          <a:chExt cx="0" cy="0"/>
        </a:xfrm>
      </p:grpSpPr>
      <p:pic>
        <p:nvPicPr>
          <p:cNvPr id="2" name="Image 0" descr="nexora-mark.png">    </p:cNvPr>
          <p:cNvPicPr>
            <a:picLocks noChangeAspect="1"/>
          </p:cNvPicPr>
          <p:nvPr/>
        </p:nvPicPr>
        <p:blipFill>
          <a:blip r:embed="rId1"/>
          <a:stretch>
            <a:fillRect/>
          </a:stretch>
        </p:blipFill>
        <p:spPr>
          <a:xfrm>
            <a:off x="566928" y="457200"/>
            <a:ext cx="566928" cy="566928"/>
          </a:xfrm>
          <a:prstGeom prst="rect">
            <a:avLst/>
          </a:prstGeom>
        </p:spPr>
      </p:pic>
      <p:sp>
        <p:nvSpPr>
          <p:cNvPr id="3" name="Text 0"/>
          <p:cNvSpPr txBox="1"/>
          <p:nvPr/>
        </p:nvSpPr>
        <p:spPr>
          <a:xfrm>
            <a:off x="1261872" y="547908"/>
            <a:ext cx="2194560" cy="396850"/>
          </a:xfrm>
          <a:prstGeom prst="rect">
            <a:avLst/>
          </a:prstGeom>
          <a:noFill/>
          <a:ln/>
        </p:spPr>
        <p:txBody>
          <a:bodyPr wrap="square" lIns="0" tIns="0" rIns="0" bIns="0"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NEXORA</a:t>
            </a:r>
            <a:endParaRPr lang="en-US" sz="1500" dirty="0"/>
          </a:p>
        </p:txBody>
      </p:sp>
      <p:sp>
        <p:nvSpPr>
          <p:cNvPr id="4" name="Text 1"/>
          <p:cNvSpPr txBox="1"/>
          <p:nvPr/>
        </p:nvSpPr>
        <p:spPr>
          <a:xfrm>
            <a:off x="566928" y="1371600"/>
            <a:ext cx="85953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Payroll, automated.</a:t>
            </a:r>
            <a:endParaRPr lang="en-US" sz="4800" dirty="0"/>
          </a:p>
        </p:txBody>
      </p:sp>
      <p:sp>
        <p:nvSpPr>
          <p:cNvPr id="5" name="Text 2"/>
          <p:cNvSpPr txBox="1"/>
          <p:nvPr/>
        </p:nvSpPr>
        <p:spPr>
          <a:xfrm>
            <a:off x="566928" y="2359152"/>
            <a:ext cx="8778240" cy="694944"/>
          </a:xfrm>
          <a:prstGeom prst="rect">
            <a:avLst/>
          </a:prstGeom>
          <a:noFill/>
          <a:ln/>
        </p:spPr>
        <p:txBody>
          <a:bodyPr wrap="square" lIns="0" tIns="0" rIns="0" bIns="0" rtlCol="0" anchor="ctr"/>
          <a:lstStyle/>
          <a:p>
            <a:pPr indent="0" marL="0">
              <a:lnSpc>
                <a:spcPts val="2400"/>
              </a:lnSpc>
              <a:buNone/>
            </a:pPr>
            <a:r>
              <a:rPr lang="en-US" sz="1600" dirty="0">
                <a:solidFill>
                  <a:srgbClr val="C7DCEC"/>
                </a:solidFill>
                <a:latin typeface="Calibri" pitchFamily="34" charset="0"/>
                <a:ea typeface="Calibri" pitchFamily="34" charset="-122"/>
                <a:cs typeface="Calibri" pitchFamily="34" charset="-120"/>
              </a:rPr>
              <a:t>Checked line by line against your November 2024 payroll — and matching it to the cent.</a:t>
            </a:r>
            <a:endParaRPr lang="en-US" sz="1600" dirty="0"/>
          </a:p>
        </p:txBody>
      </p:sp>
      <p:sp>
        <p:nvSpPr>
          <p:cNvPr id="6" name="Text 3"/>
          <p:cNvSpPr txBox="1"/>
          <p:nvPr/>
        </p:nvSpPr>
        <p:spPr>
          <a:xfrm>
            <a:off x="566928" y="3749040"/>
            <a:ext cx="3291840"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46 of 46</a:t>
            </a:r>
            <a:endParaRPr lang="en-US" sz="2400" dirty="0"/>
          </a:p>
        </p:txBody>
      </p:sp>
      <p:sp>
        <p:nvSpPr>
          <p:cNvPr id="7" name="Text 4"/>
          <p:cNvSpPr txBox="1"/>
          <p:nvPr/>
        </p:nvSpPr>
        <p:spPr>
          <a:xfrm>
            <a:off x="566928" y="4178808"/>
            <a:ext cx="3291840" cy="548640"/>
          </a:xfrm>
          <a:prstGeom prst="rect">
            <a:avLst/>
          </a:prstGeom>
          <a:noFill/>
          <a:ln/>
        </p:spPr>
        <p:txBody>
          <a:bodyPr wrap="square" lIns="0" tIns="0" rIns="0" bIns="0" rtlCol="0" anchor="ctr"/>
          <a:lstStyle/>
          <a:p>
            <a:pPr indent="0" marL="0">
              <a:lnSpc>
                <a:spcPts val="1500"/>
              </a:lnSpc>
              <a:buNone/>
            </a:pPr>
            <a:r>
              <a:rPr lang="en-US" sz="1150" dirty="0">
                <a:solidFill>
                  <a:srgbClr val="9FC4DE"/>
                </a:solidFill>
                <a:latin typeface="Calibri" pitchFamily="34" charset="0"/>
                <a:ea typeface="Calibri" pitchFamily="34" charset="-122"/>
                <a:cs typeface="Calibri" pitchFamily="34" charset="-120"/>
              </a:rPr>
              <a:t>employees recalculated identically</a:t>
            </a:r>
            <a:endParaRPr lang="en-US" sz="1150" dirty="0"/>
          </a:p>
        </p:txBody>
      </p:sp>
      <p:sp>
        <p:nvSpPr>
          <p:cNvPr id="8" name="Text 5"/>
          <p:cNvSpPr txBox="1"/>
          <p:nvPr/>
        </p:nvSpPr>
        <p:spPr>
          <a:xfrm>
            <a:off x="4133088" y="3749040"/>
            <a:ext cx="3291840"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KES 0.07</a:t>
            </a:r>
            <a:endParaRPr lang="en-US" sz="2400" dirty="0"/>
          </a:p>
        </p:txBody>
      </p:sp>
      <p:sp>
        <p:nvSpPr>
          <p:cNvPr id="9" name="Text 6"/>
          <p:cNvSpPr txBox="1"/>
          <p:nvPr/>
        </p:nvSpPr>
        <p:spPr>
          <a:xfrm>
            <a:off x="4133088" y="4178808"/>
            <a:ext cx="3291840" cy="548640"/>
          </a:xfrm>
          <a:prstGeom prst="rect">
            <a:avLst/>
          </a:prstGeom>
          <a:noFill/>
          <a:ln/>
        </p:spPr>
        <p:txBody>
          <a:bodyPr wrap="square" lIns="0" tIns="0" rIns="0" bIns="0" rtlCol="0" anchor="ctr"/>
          <a:lstStyle/>
          <a:p>
            <a:pPr indent="0" marL="0">
              <a:lnSpc>
                <a:spcPts val="1500"/>
              </a:lnSpc>
              <a:buNone/>
            </a:pPr>
            <a:r>
              <a:rPr lang="en-US" sz="1150" dirty="0">
                <a:solidFill>
                  <a:srgbClr val="9FC4DE"/>
                </a:solidFill>
                <a:latin typeface="Calibri" pitchFamily="34" charset="0"/>
                <a:ea typeface="Calibri" pitchFamily="34" charset="-122"/>
                <a:cs typeface="Calibri" pitchFamily="34" charset="-120"/>
              </a:rPr>
              <a:t>total difference on KES 3.67M net pay</a:t>
            </a:r>
            <a:endParaRPr lang="en-US" sz="1150" dirty="0"/>
          </a:p>
        </p:txBody>
      </p:sp>
      <p:sp>
        <p:nvSpPr>
          <p:cNvPr id="10" name="Text 7"/>
          <p:cNvSpPr txBox="1"/>
          <p:nvPr/>
        </p:nvSpPr>
        <p:spPr>
          <a:xfrm>
            <a:off x="7699248" y="3749040"/>
            <a:ext cx="3291840"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Under 30 min</a:t>
            </a:r>
            <a:endParaRPr lang="en-US" sz="2400" dirty="0"/>
          </a:p>
        </p:txBody>
      </p:sp>
      <p:sp>
        <p:nvSpPr>
          <p:cNvPr id="11" name="Text 8"/>
          <p:cNvSpPr txBox="1"/>
          <p:nvPr/>
        </p:nvSpPr>
        <p:spPr>
          <a:xfrm>
            <a:off x="7699248" y="4178808"/>
            <a:ext cx="3291840" cy="548640"/>
          </a:xfrm>
          <a:prstGeom prst="rect">
            <a:avLst/>
          </a:prstGeom>
          <a:noFill/>
          <a:ln/>
        </p:spPr>
        <p:txBody>
          <a:bodyPr wrap="square" lIns="0" tIns="0" rIns="0" bIns="0" rtlCol="0" anchor="ctr"/>
          <a:lstStyle/>
          <a:p>
            <a:pPr indent="0" marL="0">
              <a:lnSpc>
                <a:spcPts val="1500"/>
              </a:lnSpc>
              <a:buNone/>
            </a:pPr>
            <a:r>
              <a:rPr lang="en-US" sz="1150" dirty="0">
                <a:solidFill>
                  <a:srgbClr val="9FC4DE"/>
                </a:solidFill>
                <a:latin typeface="Calibri" pitchFamily="34" charset="0"/>
                <a:ea typeface="Calibri" pitchFamily="34" charset="-122"/>
                <a:cs typeface="Calibri" pitchFamily="34" charset="-120"/>
              </a:rPr>
              <a:t>replaces about two working days</a:t>
            </a:r>
            <a:endParaRPr lang="en-US" sz="1150" dirty="0"/>
          </a:p>
        </p:txBody>
      </p:sp>
      <p:sp>
        <p:nvSpPr>
          <p:cNvPr id="12" name="Text 9"/>
          <p:cNvSpPr txBox="1"/>
          <p:nvPr/>
        </p:nvSpPr>
        <p:spPr>
          <a:xfrm>
            <a:off x="566928" y="5943600"/>
            <a:ext cx="8229600" cy="274320"/>
          </a:xfrm>
          <a:prstGeom prst="rect">
            <a:avLst/>
          </a:prstGeom>
          <a:noFill/>
          <a:ln/>
        </p:spPr>
        <p:txBody>
          <a:bodyPr wrap="square" lIns="0" tIns="0" rIns="0" bIns="0" rtlCol="0" anchor="ctr"/>
          <a:lstStyle/>
          <a:p>
            <a:pPr indent="0" marL="0">
              <a:buNone/>
            </a:pPr>
            <a:r>
              <a:rPr lang="en-US" sz="1100" dirty="0">
                <a:solidFill>
                  <a:srgbClr val="7FA8C4"/>
                </a:solidFill>
                <a:latin typeface="Calibri" pitchFamily="34" charset="0"/>
                <a:ea typeface="Calibri" pitchFamily="34" charset="-122"/>
                <a:cs typeface="Calibri" pitchFamily="34" charset="-120"/>
              </a:rPr>
              <a:t>Prepared for Antony Njuguna, Finance Manager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THE SHORT VERSION</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We ran your payroll. It matched.</a:t>
            </a:r>
            <a:endParaRPr lang="en-US" sz="3100" dirty="0"/>
          </a:p>
        </p:txBody>
      </p:sp>
      <p:sp>
        <p:nvSpPr>
          <p:cNvPr id="4" name="Text 2"/>
          <p:cNvSpPr txBox="1"/>
          <p:nvPr/>
        </p:nvSpPr>
        <p:spPr>
          <a:xfrm>
            <a:off x="566928" y="1408176"/>
            <a:ext cx="10881360" cy="512064"/>
          </a:xfrm>
          <a:prstGeom prst="rect">
            <a:avLst/>
          </a:prstGeom>
          <a:noFill/>
          <a:ln/>
        </p:spPr>
        <p:txBody>
          <a:bodyPr wrap="square" lIns="0" tIns="0" rIns="0" bIns="0" rtlCol="0" anchor="ctr"/>
          <a:lstStyle/>
          <a:p>
            <a:pPr indent="0" marL="0">
              <a:lnSpc>
                <a:spcPts val="2100"/>
              </a:lnSpc>
              <a:buNone/>
            </a:pPr>
            <a:r>
              <a:rPr lang="en-US" sz="1400" dirty="0">
                <a:solidFill>
                  <a:srgbClr val="5D6E7C"/>
                </a:solidFill>
                <a:latin typeface="Calibri" pitchFamily="34" charset="0"/>
                <a:ea typeface="Calibri" pitchFamily="34" charset="-122"/>
                <a:cs typeface="Calibri" pitchFamily="34" charset="-120"/>
              </a:rPr>
              <a:t>All 46 employees recalculated from scratch — PAYE, NSSF, SHIF, housing levy, pension, loans — with no reference to your workbook's answers. Then we compared.</a:t>
            </a:r>
            <a:endParaRPr lang="en-US" sz="1400" dirty="0"/>
          </a:p>
        </p:txBody>
      </p:sp>
      <p:sp>
        <p:nvSpPr>
          <p:cNvPr id="5" name="Shape 3"/>
          <p:cNvSpPr/>
          <p:nvPr/>
        </p:nvSpPr>
        <p:spPr>
          <a:xfrm>
            <a:off x="566928" y="2103120"/>
            <a:ext cx="2615184" cy="1700784"/>
          </a:xfrm>
          <a:prstGeom prst="roundRect">
            <a:avLst>
              <a:gd name="adj" fmla="val 4301"/>
            </a:avLst>
          </a:prstGeom>
          <a:solidFill>
            <a:srgbClr val="E9F3FB"/>
          </a:solidFill>
          <a:ln w="12700">
            <a:solidFill>
              <a:srgbClr val="E9F3FB"/>
            </a:solidFill>
            <a:prstDash val="solid"/>
          </a:ln>
        </p:spPr>
      </p:sp>
      <p:sp>
        <p:nvSpPr>
          <p:cNvPr id="6" name="Text 4"/>
          <p:cNvSpPr txBox="1"/>
          <p:nvPr/>
        </p:nvSpPr>
        <p:spPr>
          <a:xfrm>
            <a:off x="585216" y="2249424"/>
            <a:ext cx="2578608" cy="548640"/>
          </a:xfrm>
          <a:prstGeom prst="rect">
            <a:avLst/>
          </a:prstGeom>
          <a:noFill/>
          <a:ln/>
        </p:spPr>
        <p:txBody>
          <a:bodyPr wrap="square" lIns="0" tIns="0" rIns="0" bIns="0" rtlCol="0" anchor="ctr"/>
          <a:lstStyle/>
          <a:p>
            <a:pPr algn="ctr" indent="0" marL="0">
              <a:buNone/>
            </a:pPr>
            <a:r>
              <a:rPr lang="en-US" sz="2700" b="1" dirty="0">
                <a:solidFill>
                  <a:srgbClr val="0E76BC"/>
                </a:solidFill>
                <a:latin typeface="Cambria" pitchFamily="34" charset="0"/>
                <a:ea typeface="Cambria" pitchFamily="34" charset="-122"/>
                <a:cs typeface="Cambria" pitchFamily="34" charset="-120"/>
              </a:rPr>
              <a:t>KES 0.07</a:t>
            </a:r>
            <a:endParaRPr lang="en-US" sz="2700" dirty="0"/>
          </a:p>
        </p:txBody>
      </p:sp>
      <p:sp>
        <p:nvSpPr>
          <p:cNvPr id="7" name="Text 5"/>
          <p:cNvSpPr txBox="1"/>
          <p:nvPr/>
        </p:nvSpPr>
        <p:spPr>
          <a:xfrm>
            <a:off x="694944" y="2834640"/>
            <a:ext cx="2359152" cy="256032"/>
          </a:xfrm>
          <a:prstGeom prst="rect">
            <a:avLst/>
          </a:prstGeom>
          <a:noFill/>
          <a:ln/>
        </p:spPr>
        <p:txBody>
          <a:bodyPr wrap="square" lIns="0" tIns="0" rIns="0" bIns="0" rtlCol="0" anchor="ctr"/>
          <a:lstStyle/>
          <a:p>
            <a:pPr algn="ctr" indent="0" marL="0">
              <a:buNone/>
            </a:pPr>
            <a:r>
              <a:rPr lang="en-US" sz="1200" b="1" dirty="0">
                <a:solidFill>
                  <a:srgbClr val="16232E"/>
                </a:solidFill>
                <a:latin typeface="Calibri" pitchFamily="34" charset="0"/>
                <a:ea typeface="Calibri" pitchFamily="34" charset="-122"/>
                <a:cs typeface="Calibri" pitchFamily="34" charset="-120"/>
              </a:rPr>
              <a:t>Net pay difference</a:t>
            </a:r>
            <a:endParaRPr lang="en-US" sz="1200" dirty="0"/>
          </a:p>
        </p:txBody>
      </p:sp>
      <p:sp>
        <p:nvSpPr>
          <p:cNvPr id="8" name="Text 6"/>
          <p:cNvSpPr txBox="1"/>
          <p:nvPr/>
        </p:nvSpPr>
        <p:spPr>
          <a:xfrm>
            <a:off x="694944" y="3108960"/>
            <a:ext cx="2359152" cy="548640"/>
          </a:xfrm>
          <a:prstGeom prst="rect">
            <a:avLst/>
          </a:prstGeom>
          <a:noFill/>
          <a:ln/>
        </p:spPr>
        <p:txBody>
          <a:bodyPr wrap="square" lIns="0" tIns="0" rIns="0" bIns="0" rtlCol="0" anchor="ctr"/>
          <a:lstStyle/>
          <a:p>
            <a:pPr algn="ctr" indent="0" marL="0">
              <a:lnSpc>
                <a:spcPts val="1300"/>
              </a:lnSpc>
              <a:buNone/>
            </a:pPr>
            <a:r>
              <a:rPr lang="en-US" sz="1000" dirty="0">
                <a:solidFill>
                  <a:srgbClr val="5D6E7C"/>
                </a:solidFill>
                <a:latin typeface="Calibri" pitchFamily="34" charset="0"/>
                <a:ea typeface="Calibri" pitchFamily="34" charset="-122"/>
                <a:cs typeface="Calibri" pitchFamily="34" charset="-120"/>
              </a:rPr>
              <a:t>On a payroll of KES 3,665,723</a:t>
            </a:r>
            <a:endParaRPr lang="en-US" sz="1000" dirty="0"/>
          </a:p>
        </p:txBody>
      </p:sp>
      <p:sp>
        <p:nvSpPr>
          <p:cNvPr id="9" name="Shape 7"/>
          <p:cNvSpPr/>
          <p:nvPr/>
        </p:nvSpPr>
        <p:spPr>
          <a:xfrm>
            <a:off x="3383280" y="2103120"/>
            <a:ext cx="2615184" cy="1700784"/>
          </a:xfrm>
          <a:prstGeom prst="roundRect">
            <a:avLst>
              <a:gd name="adj" fmla="val 4301"/>
            </a:avLst>
          </a:prstGeom>
          <a:solidFill>
            <a:srgbClr val="E9F3FB"/>
          </a:solidFill>
          <a:ln w="12700">
            <a:solidFill>
              <a:srgbClr val="E9F3FB"/>
            </a:solidFill>
            <a:prstDash val="solid"/>
          </a:ln>
        </p:spPr>
      </p:sp>
      <p:sp>
        <p:nvSpPr>
          <p:cNvPr id="10" name="Text 8"/>
          <p:cNvSpPr txBox="1"/>
          <p:nvPr/>
        </p:nvSpPr>
        <p:spPr>
          <a:xfrm>
            <a:off x="3401568" y="2249424"/>
            <a:ext cx="2578608" cy="548640"/>
          </a:xfrm>
          <a:prstGeom prst="rect">
            <a:avLst/>
          </a:prstGeom>
          <a:noFill/>
          <a:ln/>
        </p:spPr>
        <p:txBody>
          <a:bodyPr wrap="square" lIns="0" tIns="0" rIns="0" bIns="0" rtlCol="0" anchor="ctr"/>
          <a:lstStyle/>
          <a:p>
            <a:pPr algn="ctr" indent="0" marL="0">
              <a:buNone/>
            </a:pPr>
            <a:r>
              <a:rPr lang="en-US" sz="2700" b="1" dirty="0">
                <a:solidFill>
                  <a:srgbClr val="0E76BC"/>
                </a:solidFill>
                <a:latin typeface="Cambria" pitchFamily="34" charset="0"/>
                <a:ea typeface="Cambria" pitchFamily="34" charset="-122"/>
                <a:cs typeface="Cambria" pitchFamily="34" charset="-120"/>
              </a:rPr>
              <a:t>KES 0.04</a:t>
            </a:r>
            <a:endParaRPr lang="en-US" sz="2700" dirty="0"/>
          </a:p>
        </p:txBody>
      </p:sp>
      <p:sp>
        <p:nvSpPr>
          <p:cNvPr id="11" name="Text 9"/>
          <p:cNvSpPr txBox="1"/>
          <p:nvPr/>
        </p:nvSpPr>
        <p:spPr>
          <a:xfrm>
            <a:off x="3511296" y="2834640"/>
            <a:ext cx="2359152" cy="256032"/>
          </a:xfrm>
          <a:prstGeom prst="rect">
            <a:avLst/>
          </a:prstGeom>
          <a:noFill/>
          <a:ln/>
        </p:spPr>
        <p:txBody>
          <a:bodyPr wrap="square" lIns="0" tIns="0" rIns="0" bIns="0" rtlCol="0" anchor="ctr"/>
          <a:lstStyle/>
          <a:p>
            <a:pPr algn="ctr" indent="0" marL="0">
              <a:buNone/>
            </a:pPr>
            <a:r>
              <a:rPr lang="en-US" sz="1200" b="1" dirty="0">
                <a:solidFill>
                  <a:srgbClr val="16232E"/>
                </a:solidFill>
                <a:latin typeface="Calibri" pitchFamily="34" charset="0"/>
                <a:ea typeface="Calibri" pitchFamily="34" charset="-122"/>
                <a:cs typeface="Calibri" pitchFamily="34" charset="-120"/>
              </a:rPr>
              <a:t>PAYE difference</a:t>
            </a:r>
            <a:endParaRPr lang="en-US" sz="1200" dirty="0"/>
          </a:p>
        </p:txBody>
      </p:sp>
      <p:sp>
        <p:nvSpPr>
          <p:cNvPr id="12" name="Text 10"/>
          <p:cNvSpPr txBox="1"/>
          <p:nvPr/>
        </p:nvSpPr>
        <p:spPr>
          <a:xfrm>
            <a:off x="3511296" y="3108960"/>
            <a:ext cx="2359152" cy="548640"/>
          </a:xfrm>
          <a:prstGeom prst="rect">
            <a:avLst/>
          </a:prstGeom>
          <a:noFill/>
          <a:ln/>
        </p:spPr>
        <p:txBody>
          <a:bodyPr wrap="square" lIns="0" tIns="0" rIns="0" bIns="0" rtlCol="0" anchor="ctr"/>
          <a:lstStyle/>
          <a:p>
            <a:pPr algn="ctr" indent="0" marL="0">
              <a:lnSpc>
                <a:spcPts val="1300"/>
              </a:lnSpc>
              <a:buNone/>
            </a:pPr>
            <a:r>
              <a:rPr lang="en-US" sz="1000" dirty="0">
                <a:solidFill>
                  <a:srgbClr val="5D6E7C"/>
                </a:solidFill>
                <a:latin typeface="Calibri" pitchFamily="34" charset="0"/>
                <a:ea typeface="Calibri" pitchFamily="34" charset="-122"/>
                <a:cs typeface="Calibri" pitchFamily="34" charset="-120"/>
              </a:rPr>
              <a:t>On KES 1,685,152 sent to KRA</a:t>
            </a:r>
            <a:endParaRPr lang="en-US" sz="1000" dirty="0"/>
          </a:p>
        </p:txBody>
      </p:sp>
      <p:sp>
        <p:nvSpPr>
          <p:cNvPr id="13" name="Shape 11"/>
          <p:cNvSpPr/>
          <p:nvPr/>
        </p:nvSpPr>
        <p:spPr>
          <a:xfrm>
            <a:off x="6199632" y="2103120"/>
            <a:ext cx="2615184" cy="1700784"/>
          </a:xfrm>
          <a:prstGeom prst="roundRect">
            <a:avLst>
              <a:gd name="adj" fmla="val 4301"/>
            </a:avLst>
          </a:prstGeom>
          <a:solidFill>
            <a:srgbClr val="E9F3FB"/>
          </a:solidFill>
          <a:ln w="12700">
            <a:solidFill>
              <a:srgbClr val="E9F3FB"/>
            </a:solidFill>
            <a:prstDash val="solid"/>
          </a:ln>
        </p:spPr>
      </p:sp>
      <p:sp>
        <p:nvSpPr>
          <p:cNvPr id="14" name="Text 12"/>
          <p:cNvSpPr txBox="1"/>
          <p:nvPr/>
        </p:nvSpPr>
        <p:spPr>
          <a:xfrm>
            <a:off x="6217920" y="2249424"/>
            <a:ext cx="2578608" cy="548640"/>
          </a:xfrm>
          <a:prstGeom prst="rect">
            <a:avLst/>
          </a:prstGeom>
          <a:noFill/>
          <a:ln/>
        </p:spPr>
        <p:txBody>
          <a:bodyPr wrap="square" lIns="0" tIns="0" rIns="0" bIns="0" rtlCol="0" anchor="ctr"/>
          <a:lstStyle/>
          <a:p>
            <a:pPr algn="ctr" indent="0" marL="0">
              <a:buNone/>
            </a:pPr>
            <a:r>
              <a:rPr lang="en-US" sz="2700" b="1" dirty="0">
                <a:solidFill>
                  <a:srgbClr val="0E76BC"/>
                </a:solidFill>
                <a:latin typeface="Cambria" pitchFamily="34" charset="0"/>
                <a:ea typeface="Cambria" pitchFamily="34" charset="-122"/>
                <a:cs typeface="Cambria" pitchFamily="34" charset="-120"/>
              </a:rPr>
              <a:t>46 / 46</a:t>
            </a:r>
            <a:endParaRPr lang="en-US" sz="2700" dirty="0"/>
          </a:p>
        </p:txBody>
      </p:sp>
      <p:sp>
        <p:nvSpPr>
          <p:cNvPr id="15" name="Text 13"/>
          <p:cNvSpPr txBox="1"/>
          <p:nvPr/>
        </p:nvSpPr>
        <p:spPr>
          <a:xfrm>
            <a:off x="6327648" y="2834640"/>
            <a:ext cx="2359152" cy="256032"/>
          </a:xfrm>
          <a:prstGeom prst="rect">
            <a:avLst/>
          </a:prstGeom>
          <a:noFill/>
          <a:ln/>
        </p:spPr>
        <p:txBody>
          <a:bodyPr wrap="square" lIns="0" tIns="0" rIns="0" bIns="0" rtlCol="0" anchor="ctr"/>
          <a:lstStyle/>
          <a:p>
            <a:pPr algn="ctr" indent="0" marL="0">
              <a:buNone/>
            </a:pPr>
            <a:r>
              <a:rPr lang="en-US" sz="1200" b="1" dirty="0">
                <a:solidFill>
                  <a:srgbClr val="16232E"/>
                </a:solidFill>
                <a:latin typeface="Calibri" pitchFamily="34" charset="0"/>
                <a:ea typeface="Calibri" pitchFamily="34" charset="-122"/>
                <a:cs typeface="Calibri" pitchFamily="34" charset="-120"/>
              </a:rPr>
              <a:t>Employees matched</a:t>
            </a:r>
            <a:endParaRPr lang="en-US" sz="1200" dirty="0"/>
          </a:p>
        </p:txBody>
      </p:sp>
      <p:sp>
        <p:nvSpPr>
          <p:cNvPr id="16" name="Text 14"/>
          <p:cNvSpPr txBox="1"/>
          <p:nvPr/>
        </p:nvSpPr>
        <p:spPr>
          <a:xfrm>
            <a:off x="6327648" y="3108960"/>
            <a:ext cx="2359152" cy="548640"/>
          </a:xfrm>
          <a:prstGeom prst="rect">
            <a:avLst/>
          </a:prstGeom>
          <a:noFill/>
          <a:ln/>
        </p:spPr>
        <p:txBody>
          <a:bodyPr wrap="square" lIns="0" tIns="0" rIns="0" bIns="0" rtlCol="0" anchor="ctr"/>
          <a:lstStyle/>
          <a:p>
            <a:pPr algn="ctr" indent="0" marL="0">
              <a:lnSpc>
                <a:spcPts val="1300"/>
              </a:lnSpc>
              <a:buNone/>
            </a:pPr>
            <a:r>
              <a:rPr lang="en-US" sz="1000" dirty="0">
                <a:solidFill>
                  <a:srgbClr val="5D6E7C"/>
                </a:solidFill>
                <a:latin typeface="Calibri" pitchFamily="34" charset="0"/>
                <a:ea typeface="Calibri" pitchFamily="34" charset="-122"/>
                <a:cs typeface="Calibri" pitchFamily="34" charset="-120"/>
              </a:rPr>
              <a:t>Every individual, not just totals</a:t>
            </a:r>
            <a:endParaRPr lang="en-US" sz="1000" dirty="0"/>
          </a:p>
        </p:txBody>
      </p:sp>
      <p:sp>
        <p:nvSpPr>
          <p:cNvPr id="17" name="Shape 15"/>
          <p:cNvSpPr/>
          <p:nvPr/>
        </p:nvSpPr>
        <p:spPr>
          <a:xfrm>
            <a:off x="9015984" y="2103120"/>
            <a:ext cx="2615184" cy="1700784"/>
          </a:xfrm>
          <a:prstGeom prst="roundRect">
            <a:avLst>
              <a:gd name="adj" fmla="val 4301"/>
            </a:avLst>
          </a:prstGeom>
          <a:solidFill>
            <a:srgbClr val="E9F3FB"/>
          </a:solidFill>
          <a:ln w="12700">
            <a:solidFill>
              <a:srgbClr val="E9F3FB"/>
            </a:solidFill>
            <a:prstDash val="solid"/>
          </a:ln>
        </p:spPr>
      </p:sp>
      <p:sp>
        <p:nvSpPr>
          <p:cNvPr id="18" name="Text 16"/>
          <p:cNvSpPr txBox="1"/>
          <p:nvPr/>
        </p:nvSpPr>
        <p:spPr>
          <a:xfrm>
            <a:off x="9034272" y="2249424"/>
            <a:ext cx="2578608" cy="548640"/>
          </a:xfrm>
          <a:prstGeom prst="rect">
            <a:avLst/>
          </a:prstGeom>
          <a:noFill/>
          <a:ln/>
        </p:spPr>
        <p:txBody>
          <a:bodyPr wrap="square" lIns="0" tIns="0" rIns="0" bIns="0" rtlCol="0" anchor="ctr"/>
          <a:lstStyle/>
          <a:p>
            <a:pPr algn="ctr" indent="0" marL="0">
              <a:buNone/>
            </a:pPr>
            <a:r>
              <a:rPr lang="en-US" sz="2700" b="1" dirty="0">
                <a:solidFill>
                  <a:srgbClr val="0E76BC"/>
                </a:solidFill>
                <a:latin typeface="Cambria" pitchFamily="34" charset="0"/>
                <a:ea typeface="Cambria" pitchFamily="34" charset="-122"/>
                <a:cs typeface="Cambria" pitchFamily="34" charset="-120"/>
              </a:rPr>
              <a:t>Zero</a:t>
            </a:r>
            <a:endParaRPr lang="en-US" sz="2700" dirty="0"/>
          </a:p>
        </p:txBody>
      </p:sp>
      <p:sp>
        <p:nvSpPr>
          <p:cNvPr id="19" name="Text 17"/>
          <p:cNvSpPr txBox="1"/>
          <p:nvPr/>
        </p:nvSpPr>
        <p:spPr>
          <a:xfrm>
            <a:off x="9144000" y="2834640"/>
            <a:ext cx="2359152" cy="256032"/>
          </a:xfrm>
          <a:prstGeom prst="rect">
            <a:avLst/>
          </a:prstGeom>
          <a:noFill/>
          <a:ln/>
        </p:spPr>
        <p:txBody>
          <a:bodyPr wrap="square" lIns="0" tIns="0" rIns="0" bIns="0" rtlCol="0" anchor="ctr"/>
          <a:lstStyle/>
          <a:p>
            <a:pPr algn="ctr" indent="0" marL="0">
              <a:buNone/>
            </a:pPr>
            <a:r>
              <a:rPr lang="en-US" sz="1200" b="1" dirty="0">
                <a:solidFill>
                  <a:srgbClr val="16232E"/>
                </a:solidFill>
                <a:latin typeface="Calibri" pitchFamily="34" charset="0"/>
                <a:ea typeface="Calibri" pitchFamily="34" charset="-122"/>
                <a:cs typeface="Calibri" pitchFamily="34" charset="-120"/>
              </a:rPr>
              <a:t>Guesswork</a:t>
            </a:r>
            <a:endParaRPr lang="en-US" sz="1200" dirty="0"/>
          </a:p>
        </p:txBody>
      </p:sp>
      <p:sp>
        <p:nvSpPr>
          <p:cNvPr id="20" name="Text 18"/>
          <p:cNvSpPr txBox="1"/>
          <p:nvPr/>
        </p:nvSpPr>
        <p:spPr>
          <a:xfrm>
            <a:off x="9144000" y="3108960"/>
            <a:ext cx="2359152" cy="548640"/>
          </a:xfrm>
          <a:prstGeom prst="rect">
            <a:avLst/>
          </a:prstGeom>
          <a:noFill/>
          <a:ln/>
        </p:spPr>
        <p:txBody>
          <a:bodyPr wrap="square" lIns="0" tIns="0" rIns="0" bIns="0" rtlCol="0" anchor="ctr"/>
          <a:lstStyle/>
          <a:p>
            <a:pPr algn="ctr" indent="0" marL="0">
              <a:lnSpc>
                <a:spcPts val="1300"/>
              </a:lnSpc>
              <a:buNone/>
            </a:pPr>
            <a:r>
              <a:rPr lang="en-US" sz="1000" dirty="0">
                <a:solidFill>
                  <a:srgbClr val="5D6E7C"/>
                </a:solidFill>
                <a:latin typeface="Calibri" pitchFamily="34" charset="0"/>
                <a:ea typeface="Calibri" pitchFamily="34" charset="-122"/>
                <a:cs typeface="Calibri" pitchFamily="34" charset="-120"/>
              </a:rPr>
              <a:t>Same statutory rules, applied identically</a:t>
            </a:r>
            <a:endParaRPr lang="en-US" sz="1000" dirty="0"/>
          </a:p>
        </p:txBody>
      </p:sp>
      <p:sp>
        <p:nvSpPr>
          <p:cNvPr id="21" name="Shape 19"/>
          <p:cNvSpPr/>
          <p:nvPr/>
        </p:nvSpPr>
        <p:spPr>
          <a:xfrm>
            <a:off x="566928" y="4224528"/>
            <a:ext cx="11055096" cy="914400"/>
          </a:xfrm>
          <a:prstGeom prst="roundRect">
            <a:avLst>
              <a:gd name="adj" fmla="val 8000"/>
            </a:avLst>
          </a:prstGeom>
          <a:solidFill>
            <a:srgbClr val="08375A"/>
          </a:solidFill>
          <a:ln w="12700">
            <a:solidFill>
              <a:srgbClr val="08375A"/>
            </a:solidFill>
            <a:prstDash val="solid"/>
          </a:ln>
        </p:spPr>
      </p:sp>
      <p:sp>
        <p:nvSpPr>
          <p:cNvPr id="22" name="Text 20"/>
          <p:cNvSpPr txBox="1"/>
          <p:nvPr/>
        </p:nvSpPr>
        <p:spPr>
          <a:xfrm>
            <a:off x="841248" y="4407408"/>
            <a:ext cx="10515600" cy="603504"/>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Why there are any cents at all.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Excel carries long decimals invisibly and rounds only when it displays. The system rounds once, at the end, the same way. The few cents across 46 people are ordinary rounding, not a difference in calculation.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THE SYSTEM</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Five steps, start to finish</a:t>
            </a:r>
            <a:endParaRPr lang="en-US" sz="3100" dirty="0"/>
          </a:p>
        </p:txBody>
      </p:sp>
      <p:sp>
        <p:nvSpPr>
          <p:cNvPr id="4" name="Shape 2"/>
          <p:cNvSpPr/>
          <p:nvPr/>
        </p:nvSpPr>
        <p:spPr>
          <a:xfrm>
            <a:off x="566928" y="1572768"/>
            <a:ext cx="2121408" cy="3035808"/>
          </a:xfrm>
          <a:prstGeom prst="roundRect">
            <a:avLst>
              <a:gd name="adj" fmla="val 3448"/>
            </a:avLst>
          </a:prstGeom>
          <a:solidFill>
            <a:srgbClr val="E9F3FB"/>
          </a:solidFill>
          <a:ln w="12700">
            <a:solidFill>
              <a:srgbClr val="E9F3FB"/>
            </a:solidFill>
            <a:prstDash val="solid"/>
          </a:ln>
        </p:spPr>
      </p:sp>
      <p:sp>
        <p:nvSpPr>
          <p:cNvPr id="5" name="Shape 3"/>
          <p:cNvSpPr/>
          <p:nvPr/>
        </p:nvSpPr>
        <p:spPr>
          <a:xfrm>
            <a:off x="1399032" y="1810512"/>
            <a:ext cx="457200" cy="457200"/>
          </a:xfrm>
          <a:prstGeom prst="ellipse">
            <a:avLst/>
          </a:prstGeom>
          <a:solidFill>
            <a:srgbClr val="0E76BC"/>
          </a:solidFill>
          <a:ln/>
        </p:spPr>
      </p:sp>
      <p:sp>
        <p:nvSpPr>
          <p:cNvPr id="6" name="Text 4"/>
          <p:cNvSpPr txBox="1"/>
          <p:nvPr/>
        </p:nvSpPr>
        <p:spPr>
          <a:xfrm>
            <a:off x="1399032"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676656" y="2395728"/>
            <a:ext cx="1901952" cy="310896"/>
          </a:xfrm>
          <a:prstGeom prst="rect">
            <a:avLst/>
          </a:prstGeom>
          <a:noFill/>
          <a:ln/>
        </p:spPr>
        <p:txBody>
          <a:bodyPr wrap="square" lIns="0" tIns="0" rIns="0" bIns="0" rtlCol="0" anchor="ctr"/>
          <a:lstStyle/>
          <a:p>
            <a:pPr algn="ctr" indent="0" marL="0">
              <a:buNone/>
            </a:pPr>
            <a:r>
              <a:rPr lang="en-US" sz="1700" b="1" dirty="0">
                <a:solidFill>
                  <a:srgbClr val="16232E"/>
                </a:solidFill>
                <a:latin typeface="Cambria" pitchFamily="34" charset="0"/>
                <a:ea typeface="Cambria" pitchFamily="34" charset="-122"/>
                <a:cs typeface="Cambria" pitchFamily="34" charset="-120"/>
              </a:rPr>
              <a:t>Import</a:t>
            </a:r>
            <a:endParaRPr lang="en-US" sz="1700" dirty="0"/>
          </a:p>
        </p:txBody>
      </p:sp>
      <p:sp>
        <p:nvSpPr>
          <p:cNvPr id="8" name="Text 6"/>
          <p:cNvSpPr txBox="1"/>
          <p:nvPr/>
        </p:nvSpPr>
        <p:spPr>
          <a:xfrm>
            <a:off x="749808" y="2743200"/>
            <a:ext cx="1755648" cy="1700784"/>
          </a:xfrm>
          <a:prstGeom prst="rect">
            <a:avLst/>
          </a:prstGeom>
          <a:noFill/>
          <a:ln/>
        </p:spPr>
        <p:txBody>
          <a:bodyPr wrap="square" lIns="0" tIns="0" rIns="0" bIns="0" rtlCol="0" anchor="ctr"/>
          <a:lstStyle/>
          <a:p>
            <a:pPr algn="ctr" indent="0" marL="0">
              <a:lnSpc>
                <a:spcPts val="1500"/>
              </a:lnSpc>
              <a:buNone/>
            </a:pPr>
            <a:r>
              <a:rPr lang="en-US" sz="1100" dirty="0">
                <a:solidFill>
                  <a:srgbClr val="5D6E7C"/>
                </a:solidFill>
                <a:latin typeface="Calibri" pitchFamily="34" charset="0"/>
                <a:ea typeface="Calibri" pitchFamily="34" charset="-122"/>
                <a:cs typeface="Calibri" pitchFamily="34" charset="-120"/>
              </a:rPr>
              <a:t>Drop in the month's overtime, bonuses and advances. Staff details are already there.</a:t>
            </a:r>
            <a:endParaRPr lang="en-US" sz="1100" dirty="0"/>
          </a:p>
        </p:txBody>
      </p:sp>
      <p:sp>
        <p:nvSpPr>
          <p:cNvPr id="9" name="Shape 7"/>
          <p:cNvSpPr/>
          <p:nvPr/>
        </p:nvSpPr>
        <p:spPr>
          <a:xfrm>
            <a:off x="2871216" y="1572768"/>
            <a:ext cx="2121408" cy="3035808"/>
          </a:xfrm>
          <a:prstGeom prst="roundRect">
            <a:avLst>
              <a:gd name="adj" fmla="val 3448"/>
            </a:avLst>
          </a:prstGeom>
          <a:solidFill>
            <a:srgbClr val="F4F8FC"/>
          </a:solidFill>
          <a:ln w="12700">
            <a:solidFill>
              <a:srgbClr val="F4F8FC"/>
            </a:solidFill>
            <a:prstDash val="solid"/>
          </a:ln>
        </p:spPr>
      </p:sp>
      <p:sp>
        <p:nvSpPr>
          <p:cNvPr id="10" name="Shape 8"/>
          <p:cNvSpPr/>
          <p:nvPr/>
        </p:nvSpPr>
        <p:spPr>
          <a:xfrm>
            <a:off x="3703320" y="1810512"/>
            <a:ext cx="457200" cy="457200"/>
          </a:xfrm>
          <a:prstGeom prst="ellipse">
            <a:avLst/>
          </a:prstGeom>
          <a:solidFill>
            <a:srgbClr val="0E76BC"/>
          </a:solidFill>
          <a:ln/>
        </p:spPr>
      </p:sp>
      <p:sp>
        <p:nvSpPr>
          <p:cNvPr id="11" name="Text 9"/>
          <p:cNvSpPr txBox="1"/>
          <p:nvPr/>
        </p:nvSpPr>
        <p:spPr>
          <a:xfrm>
            <a:off x="3703320"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2980944" y="2395728"/>
            <a:ext cx="1901952" cy="310896"/>
          </a:xfrm>
          <a:prstGeom prst="rect">
            <a:avLst/>
          </a:prstGeom>
          <a:noFill/>
          <a:ln/>
        </p:spPr>
        <p:txBody>
          <a:bodyPr wrap="square" lIns="0" tIns="0" rIns="0" bIns="0" rtlCol="0" anchor="ctr"/>
          <a:lstStyle/>
          <a:p>
            <a:pPr algn="ctr" indent="0" marL="0">
              <a:buNone/>
            </a:pPr>
            <a:r>
              <a:rPr lang="en-US" sz="1700" b="1" dirty="0">
                <a:solidFill>
                  <a:srgbClr val="16232E"/>
                </a:solidFill>
                <a:latin typeface="Cambria" pitchFamily="34" charset="0"/>
                <a:ea typeface="Cambria" pitchFamily="34" charset="-122"/>
                <a:cs typeface="Cambria" pitchFamily="34" charset="-120"/>
              </a:rPr>
              <a:t>Compute</a:t>
            </a:r>
            <a:endParaRPr lang="en-US" sz="1700" dirty="0"/>
          </a:p>
        </p:txBody>
      </p:sp>
      <p:sp>
        <p:nvSpPr>
          <p:cNvPr id="13" name="Text 11"/>
          <p:cNvSpPr txBox="1"/>
          <p:nvPr/>
        </p:nvSpPr>
        <p:spPr>
          <a:xfrm>
            <a:off x="3054096" y="2743200"/>
            <a:ext cx="1755648" cy="1700784"/>
          </a:xfrm>
          <a:prstGeom prst="rect">
            <a:avLst/>
          </a:prstGeom>
          <a:noFill/>
          <a:ln/>
        </p:spPr>
        <p:txBody>
          <a:bodyPr wrap="square" lIns="0" tIns="0" rIns="0" bIns="0" rtlCol="0" anchor="ctr"/>
          <a:lstStyle/>
          <a:p>
            <a:pPr algn="ctr" indent="0" marL="0">
              <a:lnSpc>
                <a:spcPts val="1500"/>
              </a:lnSpc>
              <a:buNone/>
            </a:pPr>
            <a:r>
              <a:rPr lang="en-US" sz="1100" dirty="0">
                <a:solidFill>
                  <a:srgbClr val="5D6E7C"/>
                </a:solidFill>
                <a:latin typeface="Calibri" pitchFamily="34" charset="0"/>
                <a:ea typeface="Calibri" pitchFamily="34" charset="-122"/>
                <a:cs typeface="Calibri" pitchFamily="34" charset="-120"/>
              </a:rPr>
              <a:t>KRA bands, NSSF, SHIF, housing levy, pension and its cap — applied per employee.</a:t>
            </a:r>
            <a:endParaRPr lang="en-US" sz="1100" dirty="0"/>
          </a:p>
        </p:txBody>
      </p:sp>
      <p:sp>
        <p:nvSpPr>
          <p:cNvPr id="14" name="Shape 12"/>
          <p:cNvSpPr/>
          <p:nvPr/>
        </p:nvSpPr>
        <p:spPr>
          <a:xfrm>
            <a:off x="5175504" y="1572768"/>
            <a:ext cx="2121408" cy="3035808"/>
          </a:xfrm>
          <a:prstGeom prst="roundRect">
            <a:avLst>
              <a:gd name="adj" fmla="val 3448"/>
            </a:avLst>
          </a:prstGeom>
          <a:solidFill>
            <a:srgbClr val="E9F3FB"/>
          </a:solidFill>
          <a:ln w="12700">
            <a:solidFill>
              <a:srgbClr val="E9F3FB"/>
            </a:solidFill>
            <a:prstDash val="solid"/>
          </a:ln>
        </p:spPr>
      </p:sp>
      <p:sp>
        <p:nvSpPr>
          <p:cNvPr id="15" name="Shape 13"/>
          <p:cNvSpPr/>
          <p:nvPr/>
        </p:nvSpPr>
        <p:spPr>
          <a:xfrm>
            <a:off x="6007608" y="1810512"/>
            <a:ext cx="457200" cy="457200"/>
          </a:xfrm>
          <a:prstGeom prst="ellipse">
            <a:avLst/>
          </a:prstGeom>
          <a:solidFill>
            <a:srgbClr val="0E76BC"/>
          </a:solidFill>
          <a:ln/>
        </p:spPr>
      </p:sp>
      <p:sp>
        <p:nvSpPr>
          <p:cNvPr id="16" name="Text 14"/>
          <p:cNvSpPr txBox="1"/>
          <p:nvPr/>
        </p:nvSpPr>
        <p:spPr>
          <a:xfrm>
            <a:off x="6007608"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5285232" y="2395728"/>
            <a:ext cx="1901952" cy="310896"/>
          </a:xfrm>
          <a:prstGeom prst="rect">
            <a:avLst/>
          </a:prstGeom>
          <a:noFill/>
          <a:ln/>
        </p:spPr>
        <p:txBody>
          <a:bodyPr wrap="square" lIns="0" tIns="0" rIns="0" bIns="0" rtlCol="0" anchor="ctr"/>
          <a:lstStyle/>
          <a:p>
            <a:pPr algn="ctr" indent="0" marL="0">
              <a:buNone/>
            </a:pPr>
            <a:r>
              <a:rPr lang="en-US" sz="1700" b="1" dirty="0">
                <a:solidFill>
                  <a:srgbClr val="16232E"/>
                </a:solidFill>
                <a:latin typeface="Cambria" pitchFamily="34" charset="0"/>
                <a:ea typeface="Cambria" pitchFamily="34" charset="-122"/>
                <a:cs typeface="Cambria" pitchFamily="34" charset="-120"/>
              </a:rPr>
              <a:t>Check</a:t>
            </a:r>
            <a:endParaRPr lang="en-US" sz="1700" dirty="0"/>
          </a:p>
        </p:txBody>
      </p:sp>
      <p:sp>
        <p:nvSpPr>
          <p:cNvPr id="18" name="Text 16"/>
          <p:cNvSpPr txBox="1"/>
          <p:nvPr/>
        </p:nvSpPr>
        <p:spPr>
          <a:xfrm>
            <a:off x="5358384" y="2743200"/>
            <a:ext cx="1755648" cy="1700784"/>
          </a:xfrm>
          <a:prstGeom prst="rect">
            <a:avLst/>
          </a:prstGeom>
          <a:noFill/>
          <a:ln/>
        </p:spPr>
        <p:txBody>
          <a:bodyPr wrap="square" lIns="0" tIns="0" rIns="0" bIns="0" rtlCol="0" anchor="ctr"/>
          <a:lstStyle/>
          <a:p>
            <a:pPr algn="ctr" indent="0" marL="0">
              <a:lnSpc>
                <a:spcPts val="1500"/>
              </a:lnSpc>
              <a:buNone/>
            </a:pPr>
            <a:r>
              <a:rPr lang="en-US" sz="1100" dirty="0">
                <a:solidFill>
                  <a:srgbClr val="5D6E7C"/>
                </a:solidFill>
                <a:latin typeface="Calibri" pitchFamily="34" charset="0"/>
                <a:ea typeface="Calibri" pitchFamily="34" charset="-122"/>
                <a:cs typeface="Calibri" pitchFamily="34" charset="-120"/>
              </a:rPr>
              <a:t>Missing bank details or bad data are flagged, by name, before anything is approved.</a:t>
            </a:r>
            <a:endParaRPr lang="en-US" sz="1100" dirty="0"/>
          </a:p>
        </p:txBody>
      </p:sp>
      <p:sp>
        <p:nvSpPr>
          <p:cNvPr id="19" name="Shape 17"/>
          <p:cNvSpPr/>
          <p:nvPr/>
        </p:nvSpPr>
        <p:spPr>
          <a:xfrm>
            <a:off x="7479792" y="1572768"/>
            <a:ext cx="2121408" cy="3035808"/>
          </a:xfrm>
          <a:prstGeom prst="roundRect">
            <a:avLst>
              <a:gd name="adj" fmla="val 3448"/>
            </a:avLst>
          </a:prstGeom>
          <a:solidFill>
            <a:srgbClr val="F4F8FC"/>
          </a:solidFill>
          <a:ln w="12700">
            <a:solidFill>
              <a:srgbClr val="F4F8FC"/>
            </a:solidFill>
            <a:prstDash val="solid"/>
          </a:ln>
        </p:spPr>
      </p:sp>
      <p:sp>
        <p:nvSpPr>
          <p:cNvPr id="20" name="Shape 18"/>
          <p:cNvSpPr/>
          <p:nvPr/>
        </p:nvSpPr>
        <p:spPr>
          <a:xfrm>
            <a:off x="8311896" y="1810512"/>
            <a:ext cx="457200" cy="457200"/>
          </a:xfrm>
          <a:prstGeom prst="ellipse">
            <a:avLst/>
          </a:prstGeom>
          <a:solidFill>
            <a:srgbClr val="0E76BC"/>
          </a:solidFill>
          <a:ln/>
        </p:spPr>
      </p:sp>
      <p:sp>
        <p:nvSpPr>
          <p:cNvPr id="21" name="Text 19"/>
          <p:cNvSpPr txBox="1"/>
          <p:nvPr/>
        </p:nvSpPr>
        <p:spPr>
          <a:xfrm>
            <a:off x="8311896"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589520" y="2395728"/>
            <a:ext cx="1901952" cy="310896"/>
          </a:xfrm>
          <a:prstGeom prst="rect">
            <a:avLst/>
          </a:prstGeom>
          <a:noFill/>
          <a:ln/>
        </p:spPr>
        <p:txBody>
          <a:bodyPr wrap="square" lIns="0" tIns="0" rIns="0" bIns="0" rtlCol="0" anchor="ctr"/>
          <a:lstStyle/>
          <a:p>
            <a:pPr algn="ctr" indent="0" marL="0">
              <a:buNone/>
            </a:pPr>
            <a:r>
              <a:rPr lang="en-US" sz="1700" b="1" dirty="0">
                <a:solidFill>
                  <a:srgbClr val="16232E"/>
                </a:solidFill>
                <a:latin typeface="Cambria" pitchFamily="34" charset="0"/>
                <a:ea typeface="Cambria" pitchFamily="34" charset="-122"/>
                <a:cs typeface="Cambria" pitchFamily="34" charset="-120"/>
              </a:rPr>
              <a:t>Approve</a:t>
            </a:r>
            <a:endParaRPr lang="en-US" sz="1700" dirty="0"/>
          </a:p>
        </p:txBody>
      </p:sp>
      <p:sp>
        <p:nvSpPr>
          <p:cNvPr id="23" name="Text 21"/>
          <p:cNvSpPr txBox="1"/>
          <p:nvPr/>
        </p:nvSpPr>
        <p:spPr>
          <a:xfrm>
            <a:off x="7662672" y="2743200"/>
            <a:ext cx="1755648" cy="1700784"/>
          </a:xfrm>
          <a:prstGeom prst="rect">
            <a:avLst/>
          </a:prstGeom>
          <a:noFill/>
          <a:ln/>
        </p:spPr>
        <p:txBody>
          <a:bodyPr wrap="square" lIns="0" tIns="0" rIns="0" bIns="0" rtlCol="0" anchor="ctr"/>
          <a:lstStyle/>
          <a:p>
            <a:pPr algn="ctr" indent="0" marL="0">
              <a:lnSpc>
                <a:spcPts val="1500"/>
              </a:lnSpc>
              <a:buNone/>
            </a:pPr>
            <a:r>
              <a:rPr lang="en-US" sz="1100" dirty="0">
                <a:solidFill>
                  <a:srgbClr val="5D6E7C"/>
                </a:solidFill>
                <a:latin typeface="Calibri" pitchFamily="34" charset="0"/>
                <a:ea typeface="Calibri" pitchFamily="34" charset="-122"/>
                <a:cs typeface="Calibri" pitchFamily="34" charset="-120"/>
              </a:rPr>
              <a:t>The finance manager signs off. Nothing leaves the system until they do.</a:t>
            </a:r>
            <a:endParaRPr lang="en-US" sz="1100" dirty="0"/>
          </a:p>
        </p:txBody>
      </p:sp>
      <p:sp>
        <p:nvSpPr>
          <p:cNvPr id="24" name="Shape 22"/>
          <p:cNvSpPr/>
          <p:nvPr/>
        </p:nvSpPr>
        <p:spPr>
          <a:xfrm>
            <a:off x="9784080" y="1572768"/>
            <a:ext cx="2121408" cy="3035808"/>
          </a:xfrm>
          <a:prstGeom prst="roundRect">
            <a:avLst>
              <a:gd name="adj" fmla="val 3448"/>
            </a:avLst>
          </a:prstGeom>
          <a:solidFill>
            <a:srgbClr val="E9F3FB"/>
          </a:solidFill>
          <a:ln w="12700">
            <a:solidFill>
              <a:srgbClr val="E9F3FB"/>
            </a:solidFill>
            <a:prstDash val="solid"/>
          </a:ln>
        </p:spPr>
      </p:sp>
      <p:sp>
        <p:nvSpPr>
          <p:cNvPr id="25" name="Shape 23"/>
          <p:cNvSpPr/>
          <p:nvPr/>
        </p:nvSpPr>
        <p:spPr>
          <a:xfrm>
            <a:off x="10616184" y="1810512"/>
            <a:ext cx="457200" cy="457200"/>
          </a:xfrm>
          <a:prstGeom prst="ellipse">
            <a:avLst/>
          </a:prstGeom>
          <a:solidFill>
            <a:srgbClr val="0E76BC"/>
          </a:solidFill>
          <a:ln/>
        </p:spPr>
      </p:sp>
      <p:sp>
        <p:nvSpPr>
          <p:cNvPr id="26" name="Text 24"/>
          <p:cNvSpPr txBox="1"/>
          <p:nvPr/>
        </p:nvSpPr>
        <p:spPr>
          <a:xfrm>
            <a:off x="10616184"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9893808" y="2395728"/>
            <a:ext cx="1901952" cy="310896"/>
          </a:xfrm>
          <a:prstGeom prst="rect">
            <a:avLst/>
          </a:prstGeom>
          <a:noFill/>
          <a:ln/>
        </p:spPr>
        <p:txBody>
          <a:bodyPr wrap="square" lIns="0" tIns="0" rIns="0" bIns="0" rtlCol="0" anchor="ctr"/>
          <a:lstStyle/>
          <a:p>
            <a:pPr algn="ctr" indent="0" marL="0">
              <a:buNone/>
            </a:pPr>
            <a:r>
              <a:rPr lang="en-US" sz="1700" b="1" dirty="0">
                <a:solidFill>
                  <a:srgbClr val="16232E"/>
                </a:solidFill>
                <a:latin typeface="Cambria" pitchFamily="34" charset="0"/>
                <a:ea typeface="Cambria" pitchFamily="34" charset="-122"/>
                <a:cs typeface="Cambria" pitchFamily="34" charset="-120"/>
              </a:rPr>
              <a:t>Produce</a:t>
            </a:r>
            <a:endParaRPr lang="en-US" sz="1700" dirty="0"/>
          </a:p>
        </p:txBody>
      </p:sp>
      <p:sp>
        <p:nvSpPr>
          <p:cNvPr id="28" name="Text 26"/>
          <p:cNvSpPr txBox="1"/>
          <p:nvPr/>
        </p:nvSpPr>
        <p:spPr>
          <a:xfrm>
            <a:off x="9966960" y="2743200"/>
            <a:ext cx="1755648" cy="1700784"/>
          </a:xfrm>
          <a:prstGeom prst="rect">
            <a:avLst/>
          </a:prstGeom>
          <a:noFill/>
          <a:ln/>
        </p:spPr>
        <p:txBody>
          <a:bodyPr wrap="square" lIns="0" tIns="0" rIns="0" bIns="0" rtlCol="0" anchor="ctr"/>
          <a:lstStyle/>
          <a:p>
            <a:pPr algn="ctr" indent="0" marL="0">
              <a:lnSpc>
                <a:spcPts val="1500"/>
              </a:lnSpc>
              <a:buNone/>
            </a:pPr>
            <a:r>
              <a:rPr lang="en-US" sz="1100" dirty="0">
                <a:solidFill>
                  <a:srgbClr val="5D6E7C"/>
                </a:solidFill>
                <a:latin typeface="Calibri" pitchFamily="34" charset="0"/>
                <a:ea typeface="Calibri" pitchFamily="34" charset="-122"/>
                <a:cs typeface="Calibri" pitchFamily="34" charset="-120"/>
              </a:rPr>
              <a:t>Payslips, P9s, bank batch, iTax file, AX journal — generated, not retyped.</a:t>
            </a:r>
            <a:endParaRPr lang="en-US" sz="1100" dirty="0"/>
          </a:p>
        </p:txBody>
      </p:sp>
      <p:sp>
        <p:nvSpPr>
          <p:cNvPr id="29" name="Shape 27"/>
          <p:cNvSpPr/>
          <p:nvPr/>
        </p:nvSpPr>
        <p:spPr>
          <a:xfrm>
            <a:off x="566928" y="4846320"/>
            <a:ext cx="11055096" cy="859536"/>
          </a:xfrm>
          <a:prstGeom prst="roundRect">
            <a:avLst>
              <a:gd name="adj" fmla="val 8511"/>
            </a:avLst>
          </a:prstGeom>
          <a:solidFill>
            <a:srgbClr val="08375A"/>
          </a:solidFill>
          <a:ln w="12700">
            <a:solidFill>
              <a:srgbClr val="08375A"/>
            </a:solidFill>
            <a:prstDash val="solid"/>
          </a:ln>
        </p:spPr>
      </p:sp>
      <p:sp>
        <p:nvSpPr>
          <p:cNvPr id="30" name="Text 28"/>
          <p:cNvSpPr txBox="1"/>
          <p:nvPr/>
        </p:nvSpPr>
        <p:spPr>
          <a:xfrm>
            <a:off x="841248" y="5029200"/>
            <a:ext cx="10515600"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The rules live in one place.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When KRA changes a rate, it changes once — and every employee, every month, past and future, uses it. No formula copied down 46 rows.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THE PROOF</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Your November 2024 totals, line by line</a:t>
            </a:r>
            <a:endParaRPr lang="en-US" sz="3100" dirty="0"/>
          </a:p>
        </p:txBody>
      </p:sp>
      <p:sp>
        <p:nvSpPr>
          <p:cNvPr id="4" name="Text 2"/>
          <p:cNvSpPr txBox="1"/>
          <p:nvPr/>
        </p:nvSpPr>
        <p:spPr>
          <a:xfrm>
            <a:off x="566928" y="1371600"/>
            <a:ext cx="7315200" cy="237744"/>
          </a:xfrm>
          <a:prstGeom prst="rect">
            <a:avLst/>
          </a:prstGeom>
          <a:noFill/>
          <a:ln/>
        </p:spPr>
        <p:txBody>
          <a:bodyPr wrap="square" lIns="0" tIns="0" rIns="0" bIns="0" rtlCol="0" anchor="ctr"/>
          <a:lstStyle/>
          <a:p>
            <a:pPr indent="0" marL="0">
              <a:buNone/>
            </a:pPr>
            <a:r>
              <a:rPr lang="en-US" sz="1150" dirty="0">
                <a:solidFill>
                  <a:srgbClr val="5D6E7C"/>
                </a:solidFill>
                <a:latin typeface="Calibri" pitchFamily="34" charset="0"/>
                <a:ea typeface="Calibri" pitchFamily="34" charset="-122"/>
                <a:cs typeface="Calibri" pitchFamily="34" charset="-120"/>
              </a:rPr>
              <a:t>46 employees · every figure in KES</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10149840" cy="914400"/>
        </p:xfrm>
        <a:graphic>
          <a:graphicData uri="http://schemas.openxmlformats.org/drawingml/2006/table">
            <a:tbl>
              <a:tblPr/>
              <a:tblGrid>
                <a:gridCol w="3931920"/>
                <a:gridCol w="2286000"/>
                <a:gridCol w="2286000"/>
                <a:gridCol w="1645920"/>
              </a:tblGrid>
              <a:tr h="224028">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Payroll line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Tony's workbook</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Nexora</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Variance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Basic salary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6,061,440.60</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6,061,440.58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Fringe benefit (non-cash)</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735,284.26</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735,284.26</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Gross salary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7,193,904.51</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7,193,904.59</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Taxable pay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6,846,120.68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6,846,120.78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PAYE sent to KRA</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1,685,152.08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1,685,152.12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(0.04)</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NSSF (Tier I + II)</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96,312.27</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96,312.27</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SHIF</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166,689.62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166,689.65</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Housing levy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90,921.61</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90,921.59</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Pension — employee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251,471.56</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251,471.58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Voluntary / above-cap pension</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20,548.04</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20,548.04</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Advances, HELB, loans, SACCO</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481,802.00</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481,802.00</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Total deductions</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2,792,897.18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2,792,897.19</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4028">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Net pay — cash to staff</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3,665,723.07</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3,665,723.14</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9A6206"/>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901184"/>
            <a:ext cx="11055096" cy="859536"/>
          </a:xfrm>
          <a:prstGeom prst="roundRect">
            <a:avLst>
              <a:gd name="adj" fmla="val 8511"/>
            </a:avLst>
          </a:prstGeom>
          <a:solidFill>
            <a:srgbClr val="08375A"/>
          </a:solidFill>
          <a:ln w="12700">
            <a:solidFill>
              <a:srgbClr val="08375A"/>
            </a:solidFill>
            <a:prstDash val="solid"/>
          </a:ln>
        </p:spPr>
      </p:sp>
      <p:sp>
        <p:nvSpPr>
          <p:cNvPr id="7" name="Text 4"/>
          <p:cNvSpPr txBox="1"/>
          <p:nvPr/>
        </p:nvSpPr>
        <p:spPr>
          <a:xfrm>
            <a:off x="841248" y="5084064"/>
            <a:ext cx="10515600"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The line that matters.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The money that actually left the bank in November 2024 was KES 3,665,723.07. The system, working only from staff records and that month's variable pay, arrived at KES 3,665,723.14.</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THE PROOF</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One employee, every single line</a:t>
            </a:r>
            <a:endParaRPr lang="en-US" sz="3100" dirty="0"/>
          </a:p>
        </p:txBody>
      </p:sp>
      <p:sp>
        <p:nvSpPr>
          <p:cNvPr id="4" name="Text 2"/>
          <p:cNvSpPr txBox="1"/>
          <p:nvPr/>
        </p:nvSpPr>
        <p:spPr>
          <a:xfrm>
            <a:off x="566928" y="1371600"/>
            <a:ext cx="10515600" cy="237744"/>
          </a:xfrm>
          <a:prstGeom prst="rect">
            <a:avLst/>
          </a:prstGeom>
          <a:noFill/>
          <a:ln/>
        </p:spPr>
        <p:txBody>
          <a:bodyPr wrap="square" lIns="0" tIns="0" rIns="0" bIns="0" rtlCol="0" anchor="ctr"/>
          <a:lstStyle/>
          <a:p>
            <a:pPr indent="0" marL="0">
              <a:buNone/>
            </a:pPr>
            <a:r>
              <a:rPr lang="en-US" sz="1150" dirty="0">
                <a:solidFill>
                  <a:srgbClr val="5D6E7C"/>
                </a:solidFill>
                <a:latin typeface="Calibri" pitchFamily="34" charset="0"/>
                <a:ea typeface="Calibri" pitchFamily="34" charset="-122"/>
                <a:cs typeface="Calibri" pitchFamily="34" charset="-120"/>
              </a:rPr>
              <a:t>Staff no. 1000 · Cost centre 512, Production Overhead — the row you sent us.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10149840" cy="914400"/>
        </p:xfrm>
        <a:graphic>
          <a:graphicData uri="http://schemas.openxmlformats.org/drawingml/2006/table">
            <a:tbl>
              <a:tblPr/>
              <a:tblGrid>
                <a:gridCol w="3931920"/>
                <a:gridCol w="2286000"/>
                <a:gridCol w="2286000"/>
                <a:gridCol w="1645920"/>
              </a:tblGrid>
              <a:tr h="228600">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Payroll line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Tony's workbook</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Nexora</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Variance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Basic pay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398,051.75</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398,051.75</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Fringe benefit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545.83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545.83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Gross pay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398,597.58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398,597.58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NSSF Tier I / Tier II</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420.00 / 1,740.00</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420.00 / 1,740.00</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SHIF</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10,946.42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10,946.42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Housing levy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5,970.78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5,970.78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Pension contribution</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19,902.59</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19,902.59</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Gross PAYE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108,362.08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108,362.08</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Personal / housing relief</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7,290.72 / 895.62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7,290.72 / 895.62</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PAYE payable</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100,175.74</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100,175.74</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dirty="0">
                          <a:solidFill>
                            <a:srgbClr val="16232E"/>
                          </a:solidFill>
                          <a:latin typeface="Calibri" pitchFamily="34" charset="0"/>
                          <a:ea typeface="Calibri" pitchFamily="34" charset="-122"/>
                          <a:cs typeface="Calibri" pitchFamily="34" charset="-120"/>
                        </a:rPr>
                        <a:t>Total deductions</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139,155.53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139,155.53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28600">
                <a:tc>
                  <a:txBody>
                    <a:bodyPr/>
                    <a:lstStyle/>
                    <a:p>
                      <a:pPr algn="l" indent="0" marL="0">
                        <a:buNone/>
                      </a:pPr>
                      <a:r>
                        <a:rPr lang="en-US" sz="1050" b="1" dirty="0">
                          <a:solidFill>
                            <a:srgbClr val="16232E"/>
                          </a:solidFill>
                          <a:latin typeface="Calibri" pitchFamily="34" charset="0"/>
                          <a:ea typeface="Calibri" pitchFamily="34" charset="-122"/>
                          <a:cs typeface="Calibri" pitchFamily="34" charset="-120"/>
                        </a:rPr>
                        <a:t>Net pay</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258,896.23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258,896.23</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27432" marB="27432"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754880"/>
            <a:ext cx="11055096" cy="822960"/>
          </a:xfrm>
          <a:prstGeom prst="roundRect">
            <a:avLst>
              <a:gd name="adj" fmla="val 8889"/>
            </a:avLst>
          </a:prstGeom>
          <a:solidFill>
            <a:srgbClr val="08375A"/>
          </a:solidFill>
          <a:ln w="12700">
            <a:solidFill>
              <a:srgbClr val="08375A"/>
            </a:solidFill>
            <a:prstDash val="solid"/>
          </a:ln>
        </p:spPr>
      </p:sp>
      <p:sp>
        <p:nvSpPr>
          <p:cNvPr id="7" name="Text 4"/>
          <p:cNvSpPr txBox="1"/>
          <p:nvPr/>
        </p:nvSpPr>
        <p:spPr>
          <a:xfrm>
            <a:off x="841248" y="4937760"/>
            <a:ext cx="10515600" cy="512064"/>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Twelve lines. Twelve exact matches.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Not one cent apart — and this is the same payslip the system hands the employee as a PDF.</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THE PROOF</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Cost centres, and the shared manager</a:t>
            </a:r>
            <a:endParaRPr lang="en-US" sz="3100" dirty="0"/>
          </a:p>
        </p:txBody>
      </p:sp>
      <p:sp>
        <p:nvSpPr>
          <p:cNvPr id="4" name="Text 2"/>
          <p:cNvSpPr txBox="1"/>
          <p:nvPr/>
        </p:nvSpPr>
        <p:spPr>
          <a:xfrm>
            <a:off x="566928" y="1371600"/>
            <a:ext cx="10881360" cy="548640"/>
          </a:xfrm>
          <a:prstGeom prst="rect">
            <a:avLst/>
          </a:prstGeom>
          <a:noFill/>
          <a:ln/>
        </p:spPr>
        <p:txBody>
          <a:bodyPr wrap="square" lIns="0" tIns="0" rIns="0" bIns="0" rtlCol="0" anchor="ctr"/>
          <a:lstStyle/>
          <a:p>
            <a:pPr indent="0" marL="0">
              <a:lnSpc>
                <a:spcPts val="1700"/>
              </a:lnSpc>
              <a:buNone/>
            </a:pPr>
            <a:r>
              <a:rPr lang="en-US" sz="1200" dirty="0">
                <a:solidFill>
                  <a:srgbClr val="5D6E7C"/>
                </a:solidFill>
                <a:latin typeface="Calibri" pitchFamily="34" charset="0"/>
                <a:ea typeface="Calibri" pitchFamily="34" charset="-122"/>
                <a:cs typeface="Calibri" pitchFamily="34" charset="-120"/>
              </a:rPr>
              <a:t>Salary and overtime together, so the comparison is like for like — your sheet folds overtime into the salary line, the system books it separately. The General Manager, split 50/50 between 121 and 512, has every line divided — salary, pension, NSSF, housing levy and NITA, not just his salary.</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6583680" cy="914400"/>
        </p:xfrm>
        <a:graphic>
          <a:graphicData uri="http://schemas.openxmlformats.org/drawingml/2006/table">
            <a:tbl>
              <a:tblPr/>
              <a:tblGrid>
                <a:gridCol w="2331720"/>
                <a:gridCol w="1508760"/>
                <a:gridCol w="1508760"/>
                <a:gridCol w="1234440"/>
              </a:tblGrid>
              <a:tr h="256032">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Cost centre</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Your sheet</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Nexora</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Difference</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Finance (121)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1,397,855.30</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1,397,855.31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General Manager (121 / 512)</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497,422.35</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497,422.36</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Technical (204)</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2,224,672.79</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2,224,672.81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OAT (205)</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369,479.11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369,479.11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Technical Assistants (206)</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622,101.93</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622,101.92</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Production (511)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949,037.01</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949,037.08</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Production Overhead (512)</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398,051.75</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6232E"/>
                          </a:solidFill>
                          <a:latin typeface="Calibri" pitchFamily="34" charset="0"/>
                          <a:ea typeface="Calibri" pitchFamily="34" charset="-122"/>
                          <a:cs typeface="Calibri" pitchFamily="34" charset="-120"/>
                        </a:rPr>
                        <a:t>398,051.75</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r h="256032">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6,458,620.24</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232E"/>
                          </a:solidFill>
                          <a:latin typeface="Calibri" pitchFamily="34" charset="0"/>
                          <a:ea typeface="Calibri" pitchFamily="34" charset="-122"/>
                          <a:cs typeface="Calibri" pitchFamily="34" charset="-120"/>
                        </a:rPr>
                        <a:t>6,458,620.34</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B7A4F"/>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73152" marR="73152" marT="36576" marB="36576" anchor="ctr">
                    <a:lnL w="6350" cap="flat" cmpd="sng" algn="ctr">
                      <a:solidFill>
                        <a:srgbClr val="D8E4EE"/>
                      </a:solidFill>
                      <a:prstDash val="solid"/>
                      <a:round/>
                      <a:headEnd type="none" w="med" len="med"/>
                      <a:tailEnd type="none" w="med" len="med"/>
                    </a:lnL>
                    <a:lnR w="6350" cap="flat" cmpd="sng" algn="ctr">
                      <a:solidFill>
                        <a:srgbClr val="D8E4EE"/>
                      </a:solidFill>
                      <a:prstDash val="solid"/>
                      <a:round/>
                      <a:headEnd type="none" w="med" len="med"/>
                      <a:tailEnd type="none" w="med" len="med"/>
                    </a:lnR>
                    <a:lnT w="6350" cap="flat" cmpd="sng" algn="ctr">
                      <a:solidFill>
                        <a:srgbClr val="D8E4EE"/>
                      </a:solidFill>
                      <a:prstDash val="solid"/>
                      <a:round/>
                      <a:headEnd type="none" w="med" len="med"/>
                      <a:tailEnd type="none" w="med" len="med"/>
                    </a:lnT>
                    <a:lnB w="6350" cap="flat" cmpd="sng" algn="ctr">
                      <a:solidFill>
                        <a:srgbClr val="D8E4EE"/>
                      </a:solidFill>
                      <a:prstDash val="solid"/>
                      <a:round/>
                      <a:headEnd type="none" w="med" len="med"/>
                      <a:tailEnd type="none" w="med" len="med"/>
                    </a:lnB>
                    <a:solidFill>
                      <a:srgbClr val="FFFFFF"/>
                    </a:solidFill>
                  </a:tcPr>
                </a:tc>
              </a:tr>
            </a:tbl>
          </a:graphicData>
        </a:graphic>
      </p:graphicFrame>
      <p:sp>
        <p:nvSpPr>
          <p:cNvPr id="6" name="Shape 3"/>
          <p:cNvSpPr/>
          <p:nvPr/>
        </p:nvSpPr>
        <p:spPr>
          <a:xfrm>
            <a:off x="7370064" y="2011680"/>
            <a:ext cx="4251960" cy="1170432"/>
          </a:xfrm>
          <a:prstGeom prst="roundRect">
            <a:avLst>
              <a:gd name="adj" fmla="val 6250"/>
            </a:avLst>
          </a:prstGeom>
          <a:solidFill>
            <a:srgbClr val="E9F3FB"/>
          </a:solidFill>
          <a:ln w="12700">
            <a:solidFill>
              <a:srgbClr val="E9F3FB"/>
            </a:solidFill>
            <a:prstDash val="solid"/>
          </a:ln>
        </p:spPr>
      </p:sp>
      <p:sp>
        <p:nvSpPr>
          <p:cNvPr id="7" name="Text 4"/>
          <p:cNvSpPr txBox="1"/>
          <p:nvPr/>
        </p:nvSpPr>
        <p:spPr>
          <a:xfrm>
            <a:off x="7607808" y="2176272"/>
            <a:ext cx="3794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The shared manager works</a:t>
            </a:r>
            <a:endParaRPr lang="en-US" sz="1250" dirty="0"/>
          </a:p>
        </p:txBody>
      </p:sp>
      <p:sp>
        <p:nvSpPr>
          <p:cNvPr id="8" name="Text 5"/>
          <p:cNvSpPr txBox="1"/>
          <p:nvPr/>
        </p:nvSpPr>
        <p:spPr>
          <a:xfrm>
            <a:off x="7607808" y="2450592"/>
            <a:ext cx="3794760" cy="658368"/>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His cost lands as KES 248,711.18 on each side — matching your sheet exactly, once his overtime is counted with his salary the way you record it.</a:t>
            </a:r>
            <a:endParaRPr lang="en-US" sz="1050" dirty="0"/>
          </a:p>
        </p:txBody>
      </p:sp>
      <p:sp>
        <p:nvSpPr>
          <p:cNvPr id="9" name="Shape 6"/>
          <p:cNvSpPr/>
          <p:nvPr/>
        </p:nvSpPr>
        <p:spPr>
          <a:xfrm>
            <a:off x="7370064" y="3291840"/>
            <a:ext cx="4251960" cy="1773936"/>
          </a:xfrm>
          <a:prstGeom prst="roundRect">
            <a:avLst>
              <a:gd name="adj" fmla="val 4124"/>
            </a:avLst>
          </a:prstGeom>
          <a:solidFill>
            <a:srgbClr val="FBF3E4"/>
          </a:solidFill>
          <a:ln w="12700">
            <a:solidFill>
              <a:srgbClr val="FBF3E4"/>
            </a:solidFill>
            <a:prstDash val="solid"/>
          </a:ln>
        </p:spPr>
      </p:sp>
      <p:sp>
        <p:nvSpPr>
          <p:cNvPr id="10" name="Text 7"/>
          <p:cNvSpPr txBox="1"/>
          <p:nvPr/>
        </p:nvSpPr>
        <p:spPr>
          <a:xfrm>
            <a:off x="7607808" y="3456432"/>
            <a:ext cx="3794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And it found something</a:t>
            </a:r>
            <a:endParaRPr lang="en-US" sz="1250" dirty="0"/>
          </a:p>
        </p:txBody>
      </p:sp>
      <p:sp>
        <p:nvSpPr>
          <p:cNvPr id="11" name="Text 8"/>
          <p:cNvSpPr txBox="1"/>
          <p:nvPr/>
        </p:nvSpPr>
        <p:spPr>
          <a:xfrm>
            <a:off x="7607808" y="3730752"/>
            <a:ext cx="3794760" cy="1261872"/>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Three centres first differed by amounts that cancelled to a single cent — 204 and 205 short by KES 1,799.98 between them, 206 over by KES 1,799.99.</a:t>
            </a:r>
            <a:endParaRPr lang="en-US" sz="1050" dirty="0"/>
          </a:p>
          <a:p>
            <a:pPr indent="0" marL="0">
              <a:lnSpc>
                <a:spcPts val="1400"/>
              </a:lnSpc>
              <a:buNone/>
            </a:pPr>
            <a:endParaRPr lang="en-US" sz="1050" dirty="0"/>
          </a:p>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Money that nets to zero is not a calculation difference, it is misfiled. It traced to a cell range in the workbook picking up the wrong rows. Corrected, all seven agree.</a:t>
            </a:r>
            <a:endParaRPr lang="en-US" sz="1050" dirty="0"/>
          </a:p>
        </p:txBody>
      </p:sp>
      <p:sp>
        <p:nvSpPr>
          <p:cNvPr id="12" name="Shape 9"/>
          <p:cNvSpPr/>
          <p:nvPr/>
        </p:nvSpPr>
        <p:spPr>
          <a:xfrm>
            <a:off x="566928" y="5230368"/>
            <a:ext cx="11055096" cy="786384"/>
          </a:xfrm>
          <a:prstGeom prst="roundRect">
            <a:avLst>
              <a:gd name="adj" fmla="val 9302"/>
            </a:avLst>
          </a:prstGeom>
          <a:solidFill>
            <a:srgbClr val="08375A"/>
          </a:solidFill>
          <a:ln w="12700">
            <a:solidFill>
              <a:srgbClr val="08375A"/>
            </a:solidFill>
            <a:prstDash val="solid"/>
          </a:ln>
        </p:spPr>
      </p:sp>
      <p:sp>
        <p:nvSpPr>
          <p:cNvPr id="13" name="Text 10"/>
          <p:cNvSpPr txBox="1"/>
          <p:nvPr/>
        </p:nvSpPr>
        <p:spPr>
          <a:xfrm>
            <a:off x="841248" y="5413248"/>
            <a:ext cx="10515600" cy="475488"/>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Every cost centre now agrees.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Seven lines, the largest difference seven cents, on a payroll of KES 6.46 million — including the manager split across two centres.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POSTING TO AX</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The journal, in your own upload format</a:t>
            </a:r>
            <a:endParaRPr lang="en-US" sz="3100" dirty="0"/>
          </a:p>
        </p:txBody>
      </p:sp>
      <p:sp>
        <p:nvSpPr>
          <p:cNvPr id="4" name="Text 2"/>
          <p:cNvSpPr txBox="1"/>
          <p:nvPr/>
        </p:nvSpPr>
        <p:spPr>
          <a:xfrm>
            <a:off x="566928" y="1371600"/>
            <a:ext cx="10881360" cy="274320"/>
          </a:xfrm>
          <a:prstGeom prst="rect">
            <a:avLst/>
          </a:prstGeom>
          <a:noFill/>
          <a:ln/>
        </p:spPr>
        <p:txBody>
          <a:bodyPr wrap="square" lIns="0" tIns="0" rIns="0" bIns="0" rtlCol="0" anchor="ctr"/>
          <a:lstStyle/>
          <a:p>
            <a:pPr indent="0" marL="0">
              <a:buNone/>
            </a:pPr>
            <a:r>
              <a:rPr lang="en-US" sz="1250" dirty="0">
                <a:solidFill>
                  <a:srgbClr val="5D6E7C"/>
                </a:solidFill>
                <a:latin typeface="Calibri" pitchFamily="34" charset="0"/>
                <a:ea typeface="Calibri" pitchFamily="34" charset="-122"/>
                <a:cs typeface="Calibri" pitchFamily="34" charset="-120"/>
              </a:rPr>
              <a:t>Not a report to retype — the same ten-column file you already upload to Dynamics AX, in one click.</a:t>
            </a:r>
            <a:endParaRPr lang="en-US" sz="1250" dirty="0"/>
          </a:p>
        </p:txBody>
      </p:sp>
      <p:sp>
        <p:nvSpPr>
          <p:cNvPr id="5" name="Shape 3"/>
          <p:cNvSpPr/>
          <p:nvPr/>
        </p:nvSpPr>
        <p:spPr>
          <a:xfrm>
            <a:off x="566928" y="1773936"/>
            <a:ext cx="2651760" cy="2103120"/>
          </a:xfrm>
          <a:prstGeom prst="roundRect">
            <a:avLst>
              <a:gd name="adj" fmla="val 3478"/>
            </a:avLst>
          </a:prstGeom>
          <a:solidFill>
            <a:srgbClr val="E9F3FB"/>
          </a:solidFill>
          <a:ln w="12700">
            <a:solidFill>
              <a:srgbClr val="E9F3FB"/>
            </a:solidFill>
            <a:prstDash val="solid"/>
          </a:ln>
        </p:spPr>
      </p:sp>
      <p:sp>
        <p:nvSpPr>
          <p:cNvPr id="6" name="Text 4"/>
          <p:cNvSpPr txBox="1"/>
          <p:nvPr/>
        </p:nvSpPr>
        <p:spPr>
          <a:xfrm>
            <a:off x="749808" y="1938528"/>
            <a:ext cx="2286000" cy="292608"/>
          </a:xfrm>
          <a:prstGeom prst="rect">
            <a:avLst/>
          </a:prstGeom>
          <a:noFill/>
          <a:ln/>
        </p:spPr>
        <p:txBody>
          <a:bodyPr wrap="square" lIns="0" tIns="0" rIns="0" bIns="0" rtlCol="0" anchor="ctr"/>
          <a:lstStyle/>
          <a:p>
            <a:pPr indent="0" marL="0">
              <a:buNone/>
            </a:pPr>
            <a:r>
              <a:rPr lang="en-US" sz="1600" b="1" dirty="0">
                <a:solidFill>
                  <a:srgbClr val="0E76BC"/>
                </a:solidFill>
                <a:latin typeface="Cambria" pitchFamily="34" charset="0"/>
                <a:ea typeface="Cambria" pitchFamily="34" charset="-122"/>
                <a:cs typeface="Cambria" pitchFamily="34" charset="-120"/>
              </a:rPr>
              <a:t>Credits</a:t>
            </a:r>
            <a:endParaRPr lang="en-US" sz="1600" dirty="0"/>
          </a:p>
        </p:txBody>
      </p:sp>
      <p:sp>
        <p:nvSpPr>
          <p:cNvPr id="7" name="Text 5"/>
          <p:cNvSpPr txBox="1"/>
          <p:nvPr/>
        </p:nvSpPr>
        <p:spPr>
          <a:xfrm>
            <a:off x="749808" y="2286000"/>
            <a:ext cx="2286000" cy="1499616"/>
          </a:xfrm>
          <a:prstGeom prst="rect">
            <a:avLst/>
          </a:prstGeom>
          <a:noFill/>
          <a:ln/>
        </p:spPr>
        <p:txBody>
          <a:bodyPr wrap="square" lIns="0" tIns="0" rIns="0" bIns="0" rtlCol="0" anchor="ctr"/>
          <a:lstStyle/>
          <a:p>
            <a:pPr indent="0" marL="0">
              <a:lnSpc>
                <a:spcPts val="1450"/>
              </a:lnSpc>
              <a:buNone/>
            </a:pPr>
            <a:r>
              <a:rPr lang="en-US" sz="1050" dirty="0">
                <a:solidFill>
                  <a:srgbClr val="5D6E7C"/>
                </a:solidFill>
                <a:latin typeface="Calibri" pitchFamily="34" charset="0"/>
                <a:ea typeface="Calibri" pitchFamily="34" charset="-122"/>
                <a:cs typeface="Calibri" pitchFamily="34" charset="-120"/>
              </a:rPr>
              <a:t>Net pay, NSSF, pension, SHIF, HELB, SACCO to 11500-06020. Loans and advances to 14320-04230. PAYE, NITA and housing levy to 18150-09060.</a:t>
            </a:r>
            <a:endParaRPr lang="en-US" sz="1050" dirty="0"/>
          </a:p>
        </p:txBody>
      </p:sp>
      <p:sp>
        <p:nvSpPr>
          <p:cNvPr id="8" name="Shape 6"/>
          <p:cNvSpPr/>
          <p:nvPr/>
        </p:nvSpPr>
        <p:spPr>
          <a:xfrm>
            <a:off x="3364992" y="1773936"/>
            <a:ext cx="2651760" cy="2103120"/>
          </a:xfrm>
          <a:prstGeom prst="roundRect">
            <a:avLst>
              <a:gd name="adj" fmla="val 3478"/>
            </a:avLst>
          </a:prstGeom>
          <a:solidFill>
            <a:srgbClr val="F4F8FC"/>
          </a:solidFill>
          <a:ln w="12700">
            <a:solidFill>
              <a:srgbClr val="F4F8FC"/>
            </a:solidFill>
            <a:prstDash val="solid"/>
          </a:ln>
        </p:spPr>
      </p:sp>
      <p:sp>
        <p:nvSpPr>
          <p:cNvPr id="9" name="Text 7"/>
          <p:cNvSpPr txBox="1"/>
          <p:nvPr/>
        </p:nvSpPr>
        <p:spPr>
          <a:xfrm>
            <a:off x="3547872" y="1938528"/>
            <a:ext cx="2286000" cy="292608"/>
          </a:xfrm>
          <a:prstGeom prst="rect">
            <a:avLst/>
          </a:prstGeom>
          <a:noFill/>
          <a:ln/>
        </p:spPr>
        <p:txBody>
          <a:bodyPr wrap="square" lIns="0" tIns="0" rIns="0" bIns="0" rtlCol="0" anchor="ctr"/>
          <a:lstStyle/>
          <a:p>
            <a:pPr indent="0" marL="0">
              <a:buNone/>
            </a:pPr>
            <a:r>
              <a:rPr lang="en-US" sz="1600" b="1" dirty="0">
                <a:solidFill>
                  <a:srgbClr val="0E76BC"/>
                </a:solidFill>
                <a:latin typeface="Cambria" pitchFamily="34" charset="0"/>
                <a:ea typeface="Cambria" pitchFamily="34" charset="-122"/>
                <a:cs typeface="Cambria" pitchFamily="34" charset="-120"/>
              </a:rPr>
              <a:t>Rounding</a:t>
            </a:r>
            <a:endParaRPr lang="en-US" sz="1600" dirty="0"/>
          </a:p>
        </p:txBody>
      </p:sp>
      <p:sp>
        <p:nvSpPr>
          <p:cNvPr id="10" name="Text 8"/>
          <p:cNvSpPr txBox="1"/>
          <p:nvPr/>
        </p:nvSpPr>
        <p:spPr>
          <a:xfrm>
            <a:off x="3547872" y="2286000"/>
            <a:ext cx="2286000" cy="1499616"/>
          </a:xfrm>
          <a:prstGeom prst="rect">
            <a:avLst/>
          </a:prstGeom>
          <a:noFill/>
          <a:ln/>
        </p:spPr>
        <p:txBody>
          <a:bodyPr wrap="square" lIns="0" tIns="0" rIns="0" bIns="0" rtlCol="0" anchor="ctr"/>
          <a:lstStyle/>
          <a:p>
            <a:pPr indent="0" marL="0">
              <a:lnSpc>
                <a:spcPts val="1450"/>
              </a:lnSpc>
              <a:buNone/>
            </a:pPr>
            <a:r>
              <a:rPr lang="en-US" sz="1050" dirty="0">
                <a:solidFill>
                  <a:srgbClr val="5D6E7C"/>
                </a:solidFill>
                <a:latin typeface="Calibri" pitchFamily="34" charset="0"/>
                <a:ea typeface="Calibri" pitchFamily="34" charset="-122"/>
                <a:cs typeface="Calibri" pitchFamily="34" charset="-120"/>
              </a:rPr>
              <a:t>The 61280 rounding line your file always carries — KES 0.06, decimal rounding and nothing more.</a:t>
            </a:r>
            <a:endParaRPr lang="en-US" sz="1050" dirty="0"/>
          </a:p>
        </p:txBody>
      </p:sp>
      <p:sp>
        <p:nvSpPr>
          <p:cNvPr id="11" name="Shape 9"/>
          <p:cNvSpPr/>
          <p:nvPr/>
        </p:nvSpPr>
        <p:spPr>
          <a:xfrm>
            <a:off x="6163056" y="1773936"/>
            <a:ext cx="2651760" cy="2103120"/>
          </a:xfrm>
          <a:prstGeom prst="roundRect">
            <a:avLst>
              <a:gd name="adj" fmla="val 3478"/>
            </a:avLst>
          </a:prstGeom>
          <a:solidFill>
            <a:srgbClr val="E9F3FB"/>
          </a:solidFill>
          <a:ln w="12700">
            <a:solidFill>
              <a:srgbClr val="E9F3FB"/>
            </a:solidFill>
            <a:prstDash val="solid"/>
          </a:ln>
        </p:spPr>
      </p:sp>
      <p:sp>
        <p:nvSpPr>
          <p:cNvPr id="12" name="Text 10"/>
          <p:cNvSpPr txBox="1"/>
          <p:nvPr/>
        </p:nvSpPr>
        <p:spPr>
          <a:xfrm>
            <a:off x="6345936" y="1938528"/>
            <a:ext cx="2286000" cy="292608"/>
          </a:xfrm>
          <a:prstGeom prst="rect">
            <a:avLst/>
          </a:prstGeom>
          <a:noFill/>
          <a:ln/>
        </p:spPr>
        <p:txBody>
          <a:bodyPr wrap="square" lIns="0" tIns="0" rIns="0" bIns="0" rtlCol="0" anchor="ctr"/>
          <a:lstStyle/>
          <a:p>
            <a:pPr indent="0" marL="0">
              <a:buNone/>
            </a:pPr>
            <a:r>
              <a:rPr lang="en-US" sz="1600" b="1" dirty="0">
                <a:solidFill>
                  <a:srgbClr val="0E76BC"/>
                </a:solidFill>
                <a:latin typeface="Cambria" pitchFamily="34" charset="0"/>
                <a:ea typeface="Cambria" pitchFamily="34" charset="-122"/>
                <a:cs typeface="Cambria" pitchFamily="34" charset="-120"/>
              </a:rPr>
              <a:t>Debits</a:t>
            </a:r>
            <a:endParaRPr lang="en-US" sz="1600" dirty="0"/>
          </a:p>
        </p:txBody>
      </p:sp>
      <p:sp>
        <p:nvSpPr>
          <p:cNvPr id="13" name="Text 11"/>
          <p:cNvSpPr txBox="1"/>
          <p:nvPr/>
        </p:nvSpPr>
        <p:spPr>
          <a:xfrm>
            <a:off x="6345936" y="2286000"/>
            <a:ext cx="2286000" cy="1499616"/>
          </a:xfrm>
          <a:prstGeom prst="rect">
            <a:avLst/>
          </a:prstGeom>
          <a:noFill/>
          <a:ln/>
        </p:spPr>
        <p:txBody>
          <a:bodyPr wrap="square" lIns="0" tIns="0" rIns="0" bIns="0" rtlCol="0" anchor="ctr"/>
          <a:lstStyle/>
          <a:p>
            <a:pPr indent="0" marL="0">
              <a:lnSpc>
                <a:spcPts val="1450"/>
              </a:lnSpc>
              <a:buNone/>
            </a:pPr>
            <a:r>
              <a:rPr lang="en-US" sz="1050" dirty="0">
                <a:solidFill>
                  <a:srgbClr val="5D6E7C"/>
                </a:solidFill>
                <a:latin typeface="Calibri" pitchFamily="34" charset="0"/>
                <a:ea typeface="Calibri" pitchFamily="34" charset="-122"/>
                <a:cs typeface="Calibri" pitchFamily="34" charset="-120"/>
              </a:rPr>
              <a:t>Salary, overtime, employer NSSF, housing levy, pension and NITA, each to its own cost centre.</a:t>
            </a:r>
            <a:endParaRPr lang="en-US" sz="1050" dirty="0"/>
          </a:p>
        </p:txBody>
      </p:sp>
      <p:sp>
        <p:nvSpPr>
          <p:cNvPr id="14" name="Shape 12"/>
          <p:cNvSpPr/>
          <p:nvPr/>
        </p:nvSpPr>
        <p:spPr>
          <a:xfrm>
            <a:off x="8961120" y="1773936"/>
            <a:ext cx="2651760" cy="2103120"/>
          </a:xfrm>
          <a:prstGeom prst="roundRect">
            <a:avLst>
              <a:gd name="adj" fmla="val 3478"/>
            </a:avLst>
          </a:prstGeom>
          <a:solidFill>
            <a:srgbClr val="F4F8FC"/>
          </a:solidFill>
          <a:ln w="12700">
            <a:solidFill>
              <a:srgbClr val="F4F8FC"/>
            </a:solidFill>
            <a:prstDash val="solid"/>
          </a:ln>
        </p:spPr>
      </p:sp>
      <p:sp>
        <p:nvSpPr>
          <p:cNvPr id="15" name="Text 13"/>
          <p:cNvSpPr txBox="1"/>
          <p:nvPr/>
        </p:nvSpPr>
        <p:spPr>
          <a:xfrm>
            <a:off x="9144000" y="1938528"/>
            <a:ext cx="2286000" cy="292608"/>
          </a:xfrm>
          <a:prstGeom prst="rect">
            <a:avLst/>
          </a:prstGeom>
          <a:noFill/>
          <a:ln/>
        </p:spPr>
        <p:txBody>
          <a:bodyPr wrap="square" lIns="0" tIns="0" rIns="0" bIns="0" rtlCol="0" anchor="ctr"/>
          <a:lstStyle/>
          <a:p>
            <a:pPr indent="0" marL="0">
              <a:buNone/>
            </a:pPr>
            <a:r>
              <a:rPr lang="en-US" sz="1600" b="1" dirty="0">
                <a:solidFill>
                  <a:srgbClr val="0E76BC"/>
                </a:solidFill>
                <a:latin typeface="Cambria" pitchFamily="34" charset="0"/>
                <a:ea typeface="Cambria" pitchFamily="34" charset="-122"/>
                <a:cs typeface="Cambria" pitchFamily="34" charset="-120"/>
              </a:rPr>
              <a:t>Bank</a:t>
            </a:r>
            <a:endParaRPr lang="en-US" sz="1600" dirty="0"/>
          </a:p>
        </p:txBody>
      </p:sp>
      <p:sp>
        <p:nvSpPr>
          <p:cNvPr id="16" name="Text 14"/>
          <p:cNvSpPr txBox="1"/>
          <p:nvPr/>
        </p:nvSpPr>
        <p:spPr>
          <a:xfrm>
            <a:off x="9144000" y="2286000"/>
            <a:ext cx="2286000" cy="1499616"/>
          </a:xfrm>
          <a:prstGeom prst="rect">
            <a:avLst/>
          </a:prstGeom>
          <a:noFill/>
          <a:ln/>
        </p:spPr>
        <p:txBody>
          <a:bodyPr wrap="square" lIns="0" tIns="0" rIns="0" bIns="0" rtlCol="0" anchor="ctr"/>
          <a:lstStyle/>
          <a:p>
            <a:pPr indent="0" marL="0">
              <a:lnSpc>
                <a:spcPts val="1450"/>
              </a:lnSpc>
              <a:buNone/>
            </a:pPr>
            <a:r>
              <a:rPr lang="en-US" sz="1050" dirty="0">
                <a:solidFill>
                  <a:srgbClr val="5D6E7C"/>
                </a:solidFill>
                <a:latin typeface="Calibri" pitchFamily="34" charset="0"/>
                <a:ea typeface="Calibri" pitchFamily="34" charset="-122"/>
                <a:cs typeface="Calibri" pitchFamily="34" charset="-120"/>
              </a:rPr>
              <a:t>The BARKSH lines, matching every payment that leaves the bank on payday.</a:t>
            </a:r>
            <a:endParaRPr lang="en-US" sz="1050" dirty="0"/>
          </a:p>
        </p:txBody>
      </p:sp>
      <p:sp>
        <p:nvSpPr>
          <p:cNvPr id="17" name="Text 15"/>
          <p:cNvSpPr txBox="1"/>
          <p:nvPr/>
        </p:nvSpPr>
        <p:spPr>
          <a:xfrm>
            <a:off x="566928" y="4078224"/>
            <a:ext cx="2651760" cy="384048"/>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67</a:t>
            </a:r>
            <a:endParaRPr lang="en-US" sz="1900" dirty="0"/>
          </a:p>
        </p:txBody>
      </p:sp>
      <p:sp>
        <p:nvSpPr>
          <p:cNvPr id="18" name="Text 16"/>
          <p:cNvSpPr txBox="1"/>
          <p:nvPr/>
        </p:nvSpPr>
        <p:spPr>
          <a:xfrm>
            <a:off x="566928" y="4462272"/>
            <a:ext cx="2651760" cy="237744"/>
          </a:xfrm>
          <a:prstGeom prst="rect">
            <a:avLst/>
          </a:prstGeom>
          <a:noFill/>
          <a:ln/>
        </p:spPr>
        <p:txBody>
          <a:bodyPr wrap="square" lIns="0" tIns="0" rIns="0" bIns="0" rtlCol="0" anchor="ctr"/>
          <a:lstStyle/>
          <a:p>
            <a:pPr indent="0" marL="0">
              <a:buNone/>
            </a:pPr>
            <a:r>
              <a:rPr lang="en-US" sz="1100" dirty="0">
                <a:solidFill>
                  <a:srgbClr val="5D6E7C"/>
                </a:solidFill>
                <a:latin typeface="Calibri" pitchFamily="34" charset="0"/>
                <a:ea typeface="Calibri" pitchFamily="34" charset="-122"/>
                <a:cs typeface="Calibri" pitchFamily="34" charset="-120"/>
              </a:rPr>
              <a:t>journal lines, all on screen</a:t>
            </a:r>
            <a:endParaRPr lang="en-US" sz="1100" dirty="0"/>
          </a:p>
        </p:txBody>
      </p:sp>
      <p:sp>
        <p:nvSpPr>
          <p:cNvPr id="19" name="Text 17"/>
          <p:cNvSpPr txBox="1"/>
          <p:nvPr/>
        </p:nvSpPr>
        <p:spPr>
          <a:xfrm>
            <a:off x="3355848" y="4078224"/>
            <a:ext cx="2651760" cy="384048"/>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KES 7,254,298.31</a:t>
            </a:r>
            <a:endParaRPr lang="en-US" sz="1900" dirty="0"/>
          </a:p>
        </p:txBody>
      </p:sp>
      <p:sp>
        <p:nvSpPr>
          <p:cNvPr id="20" name="Text 18"/>
          <p:cNvSpPr txBox="1"/>
          <p:nvPr/>
        </p:nvSpPr>
        <p:spPr>
          <a:xfrm>
            <a:off x="3355848" y="4462272"/>
            <a:ext cx="2651760" cy="237744"/>
          </a:xfrm>
          <a:prstGeom prst="rect">
            <a:avLst/>
          </a:prstGeom>
          <a:noFill/>
          <a:ln/>
        </p:spPr>
        <p:txBody>
          <a:bodyPr wrap="square" lIns="0" tIns="0" rIns="0" bIns="0" rtlCol="0" anchor="ctr"/>
          <a:lstStyle/>
          <a:p>
            <a:pPr indent="0" marL="0">
              <a:buNone/>
            </a:pPr>
            <a:r>
              <a:rPr lang="en-US" sz="1100" dirty="0">
                <a:solidFill>
                  <a:srgbClr val="5D6E7C"/>
                </a:solidFill>
                <a:latin typeface="Calibri" pitchFamily="34" charset="0"/>
                <a:ea typeface="Calibri" pitchFamily="34" charset="-122"/>
                <a:cs typeface="Calibri" pitchFamily="34" charset="-120"/>
              </a:rPr>
              <a:t>debits</a:t>
            </a:r>
            <a:endParaRPr lang="en-US" sz="1100" dirty="0"/>
          </a:p>
        </p:txBody>
      </p:sp>
      <p:sp>
        <p:nvSpPr>
          <p:cNvPr id="21" name="Text 19"/>
          <p:cNvSpPr txBox="1"/>
          <p:nvPr/>
        </p:nvSpPr>
        <p:spPr>
          <a:xfrm>
            <a:off x="6144768" y="4078224"/>
            <a:ext cx="2651760" cy="384048"/>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KES 7,254,298.31</a:t>
            </a:r>
            <a:endParaRPr lang="en-US" sz="1900" dirty="0"/>
          </a:p>
        </p:txBody>
      </p:sp>
      <p:sp>
        <p:nvSpPr>
          <p:cNvPr id="22" name="Text 20"/>
          <p:cNvSpPr txBox="1"/>
          <p:nvPr/>
        </p:nvSpPr>
        <p:spPr>
          <a:xfrm>
            <a:off x="6144768" y="4462272"/>
            <a:ext cx="2651760" cy="237744"/>
          </a:xfrm>
          <a:prstGeom prst="rect">
            <a:avLst/>
          </a:prstGeom>
          <a:noFill/>
          <a:ln/>
        </p:spPr>
        <p:txBody>
          <a:bodyPr wrap="square" lIns="0" tIns="0" rIns="0" bIns="0" rtlCol="0" anchor="ctr"/>
          <a:lstStyle/>
          <a:p>
            <a:pPr indent="0" marL="0">
              <a:buNone/>
            </a:pPr>
            <a:r>
              <a:rPr lang="en-US" sz="1100" dirty="0">
                <a:solidFill>
                  <a:srgbClr val="5D6E7C"/>
                </a:solidFill>
                <a:latin typeface="Calibri" pitchFamily="34" charset="0"/>
                <a:ea typeface="Calibri" pitchFamily="34" charset="-122"/>
                <a:cs typeface="Calibri" pitchFamily="34" charset="-120"/>
              </a:rPr>
              <a:t>credits</a:t>
            </a:r>
            <a:endParaRPr lang="en-US" sz="1100" dirty="0"/>
          </a:p>
        </p:txBody>
      </p:sp>
      <p:sp>
        <p:nvSpPr>
          <p:cNvPr id="23" name="Text 21"/>
          <p:cNvSpPr txBox="1"/>
          <p:nvPr/>
        </p:nvSpPr>
        <p:spPr>
          <a:xfrm>
            <a:off x="8933688" y="4078224"/>
            <a:ext cx="2651760" cy="384048"/>
          </a:xfrm>
          <a:prstGeom prst="rect">
            <a:avLst/>
          </a:prstGeom>
          <a:noFill/>
          <a:ln/>
        </p:spPr>
        <p:txBody>
          <a:bodyPr wrap="square" lIns="0" tIns="0" rIns="0" bIns="0" rtlCol="0" anchor="ctr"/>
          <a:lstStyle/>
          <a:p>
            <a:pPr indent="0" marL="0">
              <a:buNone/>
            </a:pPr>
            <a:r>
              <a:rPr lang="en-US" sz="1900" b="1" dirty="0">
                <a:solidFill>
                  <a:srgbClr val="1B7A4F"/>
                </a:solidFill>
                <a:latin typeface="Cambria" pitchFamily="34" charset="0"/>
                <a:ea typeface="Cambria" pitchFamily="34" charset="-122"/>
                <a:cs typeface="Cambria" pitchFamily="34" charset="-120"/>
              </a:rPr>
              <a:t>KES 0.00</a:t>
            </a:r>
            <a:endParaRPr lang="en-US" sz="1900" dirty="0"/>
          </a:p>
        </p:txBody>
      </p:sp>
      <p:sp>
        <p:nvSpPr>
          <p:cNvPr id="24" name="Text 22"/>
          <p:cNvSpPr txBox="1"/>
          <p:nvPr/>
        </p:nvSpPr>
        <p:spPr>
          <a:xfrm>
            <a:off x="8933688" y="4462272"/>
            <a:ext cx="2651760" cy="237744"/>
          </a:xfrm>
          <a:prstGeom prst="rect">
            <a:avLst/>
          </a:prstGeom>
          <a:noFill/>
          <a:ln/>
        </p:spPr>
        <p:txBody>
          <a:bodyPr wrap="square" lIns="0" tIns="0" rIns="0" bIns="0" rtlCol="0" anchor="ctr"/>
          <a:lstStyle/>
          <a:p>
            <a:pPr indent="0" marL="0">
              <a:buNone/>
            </a:pPr>
            <a:r>
              <a:rPr lang="en-US" sz="1100" dirty="0">
                <a:solidFill>
                  <a:srgbClr val="5D6E7C"/>
                </a:solidFill>
                <a:latin typeface="Calibri" pitchFamily="34" charset="0"/>
                <a:ea typeface="Calibri" pitchFamily="34" charset="-122"/>
                <a:cs typeface="Calibri" pitchFamily="34" charset="-120"/>
              </a:rPr>
              <a:t>out of balance</a:t>
            </a:r>
            <a:endParaRPr lang="en-US" sz="1100" dirty="0"/>
          </a:p>
        </p:txBody>
      </p:sp>
      <p:sp>
        <p:nvSpPr>
          <p:cNvPr id="25" name="Shape 23"/>
          <p:cNvSpPr/>
          <p:nvPr/>
        </p:nvSpPr>
        <p:spPr>
          <a:xfrm>
            <a:off x="566928" y="4901184"/>
            <a:ext cx="11055096" cy="859536"/>
          </a:xfrm>
          <a:prstGeom prst="roundRect">
            <a:avLst>
              <a:gd name="adj" fmla="val 8511"/>
            </a:avLst>
          </a:prstGeom>
          <a:solidFill>
            <a:srgbClr val="08375A"/>
          </a:solidFill>
          <a:ln w="12700">
            <a:solidFill>
              <a:srgbClr val="08375A"/>
            </a:solidFill>
            <a:prstDash val="solid"/>
          </a:ln>
        </p:spPr>
      </p:sp>
      <p:sp>
        <p:nvSpPr>
          <p:cNvPr id="26" name="Text 24"/>
          <p:cNvSpPr txBox="1"/>
          <p:nvPr/>
        </p:nvSpPr>
        <p:spPr>
          <a:xfrm>
            <a:off x="841248" y="5084064"/>
            <a:ext cx="10515600"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It refuses to produce an unbalanced journal.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If debits and credits ever disagree by more than rounding, the download is blocked and says so, rather than handing you a file AX would reject.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OVER TO YOU</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Four things we'd like you to confirm</a:t>
            </a:r>
            <a:endParaRPr lang="en-US" sz="3100" dirty="0"/>
          </a:p>
        </p:txBody>
      </p:sp>
      <p:sp>
        <p:nvSpPr>
          <p:cNvPr id="4" name="Text 2"/>
          <p:cNvSpPr txBox="1"/>
          <p:nvPr/>
        </p:nvSpPr>
        <p:spPr>
          <a:xfrm>
            <a:off x="566928" y="1371600"/>
            <a:ext cx="10515600" cy="274320"/>
          </a:xfrm>
          <a:prstGeom prst="rect">
            <a:avLst/>
          </a:prstGeom>
          <a:noFill/>
          <a:ln/>
        </p:spPr>
        <p:txBody>
          <a:bodyPr wrap="square" lIns="0" tIns="0" rIns="0" bIns="0" rtlCol="0" anchor="ctr"/>
          <a:lstStyle/>
          <a:p>
            <a:pPr indent="0" marL="0">
              <a:buNone/>
            </a:pPr>
            <a:r>
              <a:rPr lang="en-US" sz="1250" dirty="0">
                <a:solidFill>
                  <a:srgbClr val="5D6E7C"/>
                </a:solidFill>
                <a:latin typeface="Calibri" pitchFamily="34" charset="0"/>
                <a:ea typeface="Calibri" pitchFamily="34" charset="-122"/>
                <a:cs typeface="Calibri" pitchFamily="34" charset="-120"/>
              </a:rPr>
              <a:t>Everything else matches. These four don't — and we'd rather show them than let you find them.</a:t>
            </a:r>
            <a:endParaRPr lang="en-US" sz="1250" dirty="0"/>
          </a:p>
        </p:txBody>
      </p:sp>
      <p:sp>
        <p:nvSpPr>
          <p:cNvPr id="5" name="Shape 3"/>
          <p:cNvSpPr/>
          <p:nvPr/>
        </p:nvSpPr>
        <p:spPr>
          <a:xfrm>
            <a:off x="566928" y="1737360"/>
            <a:ext cx="11055096" cy="1078992"/>
          </a:xfrm>
          <a:prstGeom prst="roundRect">
            <a:avLst>
              <a:gd name="adj" fmla="val 6780"/>
            </a:avLst>
          </a:prstGeom>
          <a:solidFill>
            <a:srgbClr val="FBF3E4"/>
          </a:solidFill>
          <a:ln w="12700">
            <a:solidFill>
              <a:srgbClr val="FBF3E4"/>
            </a:solidFill>
            <a:prstDash val="solid"/>
          </a:ln>
        </p:spPr>
      </p:sp>
      <p:sp>
        <p:nvSpPr>
          <p:cNvPr id="6" name="Shape 4"/>
          <p:cNvSpPr/>
          <p:nvPr/>
        </p:nvSpPr>
        <p:spPr>
          <a:xfrm>
            <a:off x="804672" y="1920240"/>
            <a:ext cx="347472" cy="347472"/>
          </a:xfrm>
          <a:prstGeom prst="ellipse">
            <a:avLst/>
          </a:prstGeom>
          <a:solidFill>
            <a:srgbClr val="9A6206"/>
          </a:solidFill>
          <a:ln/>
        </p:spPr>
      </p:sp>
      <p:sp>
        <p:nvSpPr>
          <p:cNvPr id="7" name="Text 5"/>
          <p:cNvSpPr txBox="1"/>
          <p:nvPr/>
        </p:nvSpPr>
        <p:spPr>
          <a:xfrm>
            <a:off x="804672" y="192024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txBox="1"/>
          <p:nvPr/>
        </p:nvSpPr>
        <p:spPr>
          <a:xfrm>
            <a:off x="1280160" y="1856232"/>
            <a:ext cx="2651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Employer pension</a:t>
            </a:r>
            <a:endParaRPr lang="en-US" sz="1250" dirty="0"/>
          </a:p>
        </p:txBody>
      </p:sp>
      <p:sp>
        <p:nvSpPr>
          <p:cNvPr id="9" name="Text 7"/>
          <p:cNvSpPr txBox="1"/>
          <p:nvPr/>
        </p:nvSpPr>
        <p:spPr>
          <a:xfrm>
            <a:off x="1280160" y="2121408"/>
            <a:ext cx="2651760" cy="640080"/>
          </a:xfrm>
          <a:prstGeom prst="rect">
            <a:avLst/>
          </a:prstGeom>
          <a:noFill/>
          <a:ln/>
        </p:spPr>
        <p:txBody>
          <a:bodyPr wrap="square" lIns="0" tIns="0" rIns="0" bIns="0" rtlCol="0" anchor="ctr"/>
          <a:lstStyle/>
          <a:p>
            <a:pPr indent="0" marL="0">
              <a:lnSpc>
                <a:spcPts val="1200"/>
              </a:lnSpc>
              <a:buNone/>
            </a:pPr>
            <a:r>
              <a:rPr lang="en-US" sz="950" dirty="0">
                <a:solidFill>
                  <a:srgbClr val="5D6E7C"/>
                </a:solidFill>
                <a:latin typeface="Calibri" pitchFamily="34" charset="0"/>
                <a:ea typeface="Calibri" pitchFamily="34" charset="-122"/>
                <a:cs typeface="Calibri" pitchFamily="34" charset="-120"/>
              </a:rPr>
              <a:t>Your workbook totals KES 585,199.19; the system calculates KES 606,144.06 — exactly 10% of basic pay.</a:t>
            </a:r>
            <a:endParaRPr lang="en-US" sz="950" dirty="0"/>
          </a:p>
        </p:txBody>
      </p:sp>
      <p:sp>
        <p:nvSpPr>
          <p:cNvPr id="10" name="Text 8"/>
          <p:cNvSpPr txBox="1"/>
          <p:nvPr/>
        </p:nvSpPr>
        <p:spPr>
          <a:xfrm>
            <a:off x="4114800" y="1883664"/>
            <a:ext cx="4572000" cy="859536"/>
          </a:xfrm>
          <a:prstGeom prst="rect">
            <a:avLst/>
          </a:prstGeom>
          <a:noFill/>
          <a:ln/>
        </p:spPr>
        <p:txBody>
          <a:bodyPr wrap="square" lIns="0" tIns="0" rIns="0" bIns="0" rtlCol="0" anchor="ctr"/>
          <a:lstStyle/>
          <a:p>
            <a:pPr indent="0" marL="0">
              <a:lnSpc>
                <a:spcPts val="1300"/>
              </a:lnSpc>
              <a:buNone/>
            </a:pPr>
            <a:r>
              <a:rPr lang="en-US" sz="1000" dirty="0">
                <a:solidFill>
                  <a:srgbClr val="5D6E7C"/>
                </a:solidFill>
                <a:latin typeface="Calibri" pitchFamily="34" charset="0"/>
                <a:ea typeface="Calibri" pitchFamily="34" charset="-122"/>
                <a:cs typeface="Calibri" pitchFamily="34" charset="-120"/>
              </a:rPr>
              <a:t>For staff 1000 your figure is higher than ours by exactly KES 1,740 — which happens to be the NSSF Tier II amount.</a:t>
            </a:r>
            <a:endParaRPr lang="en-US" sz="1000" dirty="0"/>
          </a:p>
        </p:txBody>
      </p:sp>
      <p:sp>
        <p:nvSpPr>
          <p:cNvPr id="11" name="Text 9"/>
          <p:cNvSpPr txBox="1"/>
          <p:nvPr/>
        </p:nvSpPr>
        <p:spPr>
          <a:xfrm>
            <a:off x="8887968" y="1883664"/>
            <a:ext cx="2468880" cy="859536"/>
          </a:xfrm>
          <a:prstGeom prst="rect">
            <a:avLst/>
          </a:prstGeom>
          <a:noFill/>
          <a:ln/>
        </p:spPr>
        <p:txBody>
          <a:bodyPr wrap="square" lIns="0" tIns="0" rIns="0" bIns="0" rtlCol="0" anchor="ctr"/>
          <a:lstStyle/>
          <a:p>
            <a:pPr indent="0" marL="0">
              <a:lnSpc>
                <a:spcPts val="1250"/>
              </a:lnSpc>
              <a:buNone/>
            </a:pPr>
            <a:r>
              <a:rPr lang="en-US" sz="950" b="1" dirty="0">
                <a:solidFill>
                  <a:srgbClr val="16232E"/>
                </a:solidFill>
                <a:latin typeface="Calibri" pitchFamily="34" charset="0"/>
                <a:ea typeface="Calibri" pitchFamily="34" charset="-122"/>
                <a:cs typeface="Calibri" pitchFamily="34" charset="-120"/>
              </a:rPr>
              <a:t>We need:  </a:t>
            </a:r>
            <a:pPr indent="0" marL="0">
              <a:lnSpc>
                <a:spcPts val="1250"/>
              </a:lnSpc>
              <a:buNone/>
            </a:pPr>
            <a:r>
              <a:rPr lang="en-US" sz="950" dirty="0">
                <a:solidFill>
                  <a:srgbClr val="5D6E7C"/>
                </a:solidFill>
                <a:latin typeface="Calibri" pitchFamily="34" charset="0"/>
                <a:ea typeface="Calibri" pitchFamily="34" charset="-122"/>
                <a:cs typeface="Calibri" pitchFamily="34" charset="-120"/>
              </a:rPr>
              <a:t>Does it include employer NSSF, and is anyone outside the scheme?</a:t>
            </a:r>
            <a:endParaRPr lang="en-US" sz="950" dirty="0"/>
          </a:p>
        </p:txBody>
      </p:sp>
      <p:sp>
        <p:nvSpPr>
          <p:cNvPr id="12" name="Shape 10"/>
          <p:cNvSpPr/>
          <p:nvPr/>
        </p:nvSpPr>
        <p:spPr>
          <a:xfrm>
            <a:off x="566928" y="2926080"/>
            <a:ext cx="11055096" cy="1078992"/>
          </a:xfrm>
          <a:prstGeom prst="roundRect">
            <a:avLst>
              <a:gd name="adj" fmla="val 6780"/>
            </a:avLst>
          </a:prstGeom>
          <a:solidFill>
            <a:srgbClr val="F4F8FC"/>
          </a:solidFill>
          <a:ln w="12700">
            <a:solidFill>
              <a:srgbClr val="F4F8FC"/>
            </a:solidFill>
            <a:prstDash val="solid"/>
          </a:ln>
        </p:spPr>
      </p:sp>
      <p:sp>
        <p:nvSpPr>
          <p:cNvPr id="13" name="Shape 11"/>
          <p:cNvSpPr/>
          <p:nvPr/>
        </p:nvSpPr>
        <p:spPr>
          <a:xfrm>
            <a:off x="804672" y="3108960"/>
            <a:ext cx="347472" cy="347472"/>
          </a:xfrm>
          <a:prstGeom prst="ellipse">
            <a:avLst/>
          </a:prstGeom>
          <a:solidFill>
            <a:srgbClr val="0E76BC"/>
          </a:solidFill>
          <a:ln/>
        </p:spPr>
      </p:sp>
      <p:sp>
        <p:nvSpPr>
          <p:cNvPr id="14" name="Text 12"/>
          <p:cNvSpPr txBox="1"/>
          <p:nvPr/>
        </p:nvSpPr>
        <p:spPr>
          <a:xfrm>
            <a:off x="804672" y="310896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1280160" y="3044952"/>
            <a:ext cx="2651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NITA levy</a:t>
            </a:r>
            <a:endParaRPr lang="en-US" sz="1250" dirty="0"/>
          </a:p>
        </p:txBody>
      </p:sp>
      <p:sp>
        <p:nvSpPr>
          <p:cNvPr id="16" name="Text 14"/>
          <p:cNvSpPr txBox="1"/>
          <p:nvPr/>
        </p:nvSpPr>
        <p:spPr>
          <a:xfrm>
            <a:off x="1280160" y="3310128"/>
            <a:ext cx="2651760" cy="640080"/>
          </a:xfrm>
          <a:prstGeom prst="rect">
            <a:avLst/>
          </a:prstGeom>
          <a:noFill/>
          <a:ln/>
        </p:spPr>
        <p:txBody>
          <a:bodyPr wrap="square" lIns="0" tIns="0" rIns="0" bIns="0" rtlCol="0" anchor="ctr"/>
          <a:lstStyle/>
          <a:p>
            <a:pPr indent="0" marL="0">
              <a:lnSpc>
                <a:spcPts val="1200"/>
              </a:lnSpc>
              <a:buNone/>
            </a:pPr>
            <a:r>
              <a:rPr lang="en-US" sz="950" dirty="0">
                <a:solidFill>
                  <a:srgbClr val="5D6E7C"/>
                </a:solidFill>
                <a:latin typeface="Calibri" pitchFamily="34" charset="0"/>
                <a:ea typeface="Calibri" pitchFamily="34" charset="-122"/>
                <a:cs typeface="Calibri" pitchFamily="34" charset="-120"/>
              </a:rPr>
              <a:t>Your summary row shows KES 2,400. Your own GL working shows KES 2,300 — and so do we.</a:t>
            </a:r>
            <a:endParaRPr lang="en-US" sz="950" dirty="0"/>
          </a:p>
        </p:txBody>
      </p:sp>
      <p:sp>
        <p:nvSpPr>
          <p:cNvPr id="17" name="Text 15"/>
          <p:cNvSpPr txBox="1"/>
          <p:nvPr/>
        </p:nvSpPr>
        <p:spPr>
          <a:xfrm>
            <a:off x="4114800" y="3072384"/>
            <a:ext cx="4572000" cy="859536"/>
          </a:xfrm>
          <a:prstGeom prst="rect">
            <a:avLst/>
          </a:prstGeom>
          <a:noFill/>
          <a:ln/>
        </p:spPr>
        <p:txBody>
          <a:bodyPr wrap="square" lIns="0" tIns="0" rIns="0" bIns="0" rtlCol="0" anchor="ctr"/>
          <a:lstStyle/>
          <a:p>
            <a:pPr indent="0" marL="0">
              <a:lnSpc>
                <a:spcPts val="1300"/>
              </a:lnSpc>
              <a:buNone/>
            </a:pPr>
            <a:r>
              <a:rPr lang="en-US" sz="1000" dirty="0">
                <a:solidFill>
                  <a:srgbClr val="5D6E7C"/>
                </a:solidFill>
                <a:latin typeface="Calibri" pitchFamily="34" charset="0"/>
                <a:ea typeface="Calibri" pitchFamily="34" charset="-122"/>
                <a:cs typeface="Calibri" pitchFamily="34" charset="-120"/>
              </a:rPr>
              <a:t>KES 2,300 is 46 employees at KES 50, which matches the headcount.</a:t>
            </a:r>
            <a:endParaRPr lang="en-US" sz="1000" dirty="0"/>
          </a:p>
        </p:txBody>
      </p:sp>
      <p:sp>
        <p:nvSpPr>
          <p:cNvPr id="18" name="Text 16"/>
          <p:cNvSpPr txBox="1"/>
          <p:nvPr/>
        </p:nvSpPr>
        <p:spPr>
          <a:xfrm>
            <a:off x="8887968" y="3072384"/>
            <a:ext cx="2468880" cy="859536"/>
          </a:xfrm>
          <a:prstGeom prst="rect">
            <a:avLst/>
          </a:prstGeom>
          <a:noFill/>
          <a:ln/>
        </p:spPr>
        <p:txBody>
          <a:bodyPr wrap="square" lIns="0" tIns="0" rIns="0" bIns="0" rtlCol="0" anchor="ctr"/>
          <a:lstStyle/>
          <a:p>
            <a:pPr indent="0" marL="0">
              <a:lnSpc>
                <a:spcPts val="1250"/>
              </a:lnSpc>
              <a:buNone/>
            </a:pPr>
            <a:r>
              <a:rPr lang="en-US" sz="950" b="1" dirty="0">
                <a:solidFill>
                  <a:srgbClr val="16232E"/>
                </a:solidFill>
                <a:latin typeface="Calibri" pitchFamily="34" charset="0"/>
                <a:ea typeface="Calibri" pitchFamily="34" charset="-122"/>
                <a:cs typeface="Calibri" pitchFamily="34" charset="-120"/>
              </a:rPr>
              <a:t>We need:  </a:t>
            </a:r>
            <a:pPr indent="0" marL="0">
              <a:lnSpc>
                <a:spcPts val="1250"/>
              </a:lnSpc>
              <a:buNone/>
            </a:pPr>
            <a:r>
              <a:rPr lang="en-US" sz="950" dirty="0">
                <a:solidFill>
                  <a:srgbClr val="5D6E7C"/>
                </a:solidFill>
                <a:latin typeface="Calibri" pitchFamily="34" charset="0"/>
                <a:ea typeface="Calibri" pitchFamily="34" charset="-122"/>
                <a:cs typeface="Calibri" pitchFamily="34" charset="-120"/>
              </a:rPr>
              <a:t>Can we treat KES 2,300 as correct?</a:t>
            </a:r>
            <a:endParaRPr lang="en-US" sz="950" dirty="0"/>
          </a:p>
        </p:txBody>
      </p:sp>
      <p:sp>
        <p:nvSpPr>
          <p:cNvPr id="19" name="Shape 17"/>
          <p:cNvSpPr/>
          <p:nvPr/>
        </p:nvSpPr>
        <p:spPr>
          <a:xfrm>
            <a:off x="566928" y="4114800"/>
            <a:ext cx="11055096" cy="1078992"/>
          </a:xfrm>
          <a:prstGeom prst="roundRect">
            <a:avLst>
              <a:gd name="adj" fmla="val 6780"/>
            </a:avLst>
          </a:prstGeom>
          <a:solidFill>
            <a:srgbClr val="F4F8FC"/>
          </a:solidFill>
          <a:ln w="12700">
            <a:solidFill>
              <a:srgbClr val="F4F8FC"/>
            </a:solidFill>
            <a:prstDash val="solid"/>
          </a:ln>
        </p:spPr>
      </p:sp>
      <p:sp>
        <p:nvSpPr>
          <p:cNvPr id="20" name="Shape 18"/>
          <p:cNvSpPr/>
          <p:nvPr/>
        </p:nvSpPr>
        <p:spPr>
          <a:xfrm>
            <a:off x="804672" y="4297680"/>
            <a:ext cx="347472" cy="347472"/>
          </a:xfrm>
          <a:prstGeom prst="ellipse">
            <a:avLst/>
          </a:prstGeom>
          <a:solidFill>
            <a:srgbClr val="0E76BC"/>
          </a:solidFill>
          <a:ln/>
        </p:spPr>
      </p:sp>
      <p:sp>
        <p:nvSpPr>
          <p:cNvPr id="21" name="Text 19"/>
          <p:cNvSpPr txBox="1"/>
          <p:nvPr/>
        </p:nvSpPr>
        <p:spPr>
          <a:xfrm>
            <a:off x="804672" y="429768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1280160" y="4233672"/>
            <a:ext cx="2651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How relief is shown</a:t>
            </a:r>
            <a:endParaRPr lang="en-US" sz="1250" dirty="0"/>
          </a:p>
        </p:txBody>
      </p:sp>
      <p:sp>
        <p:nvSpPr>
          <p:cNvPr id="23" name="Text 21"/>
          <p:cNvSpPr txBox="1"/>
          <p:nvPr/>
        </p:nvSpPr>
        <p:spPr>
          <a:xfrm>
            <a:off x="1280160" y="4498848"/>
            <a:ext cx="2651760" cy="640080"/>
          </a:xfrm>
          <a:prstGeom prst="rect">
            <a:avLst/>
          </a:prstGeom>
          <a:noFill/>
          <a:ln/>
        </p:spPr>
        <p:txBody>
          <a:bodyPr wrap="square" lIns="0" tIns="0" rIns="0" bIns="0" rtlCol="0" anchor="ctr"/>
          <a:lstStyle/>
          <a:p>
            <a:pPr indent="0" marL="0">
              <a:lnSpc>
                <a:spcPts val="1200"/>
              </a:lnSpc>
              <a:buNone/>
            </a:pPr>
            <a:r>
              <a:rPr lang="en-US" sz="950" dirty="0">
                <a:solidFill>
                  <a:srgbClr val="5D6E7C"/>
                </a:solidFill>
                <a:latin typeface="Calibri" pitchFamily="34" charset="0"/>
                <a:ea typeface="Calibri" pitchFamily="34" charset="-122"/>
                <a:cs typeface="Calibri" pitchFamily="34" charset="-120"/>
              </a:rPr>
              <a:t>Gross PAYE and personal relief each differ by about KES 2,400 — but PAYE payable agrees to four cents.</a:t>
            </a:r>
            <a:endParaRPr lang="en-US" sz="950" dirty="0"/>
          </a:p>
        </p:txBody>
      </p:sp>
      <p:sp>
        <p:nvSpPr>
          <p:cNvPr id="24" name="Text 22"/>
          <p:cNvSpPr txBox="1"/>
          <p:nvPr/>
        </p:nvSpPr>
        <p:spPr>
          <a:xfrm>
            <a:off x="4114800" y="4261104"/>
            <a:ext cx="4572000" cy="859536"/>
          </a:xfrm>
          <a:prstGeom prst="rect">
            <a:avLst/>
          </a:prstGeom>
          <a:noFill/>
          <a:ln/>
        </p:spPr>
        <p:txBody>
          <a:bodyPr wrap="square" lIns="0" tIns="0" rIns="0" bIns="0" rtlCol="0" anchor="ctr"/>
          <a:lstStyle/>
          <a:p>
            <a:pPr indent="0" marL="0">
              <a:lnSpc>
                <a:spcPts val="1300"/>
              </a:lnSpc>
              <a:buNone/>
            </a:pPr>
            <a:r>
              <a:rPr lang="en-US" sz="1000" dirty="0">
                <a:solidFill>
                  <a:srgbClr val="5D6E7C"/>
                </a:solidFill>
                <a:latin typeface="Calibri" pitchFamily="34" charset="0"/>
                <a:ea typeface="Calibri" pitchFamily="34" charset="-122"/>
                <a:cs typeface="Calibri" pitchFamily="34" charset="-120"/>
              </a:rPr>
              <a:t>Where relief exceeds the tax due, we stop at zero rather than carrying a negative. The amount remitted is identical.</a:t>
            </a:r>
            <a:endParaRPr lang="en-US" sz="1000" dirty="0"/>
          </a:p>
        </p:txBody>
      </p:sp>
      <p:sp>
        <p:nvSpPr>
          <p:cNvPr id="25" name="Text 23"/>
          <p:cNvSpPr txBox="1"/>
          <p:nvPr/>
        </p:nvSpPr>
        <p:spPr>
          <a:xfrm>
            <a:off x="8887968" y="4261104"/>
            <a:ext cx="2468880" cy="859536"/>
          </a:xfrm>
          <a:prstGeom prst="rect">
            <a:avLst/>
          </a:prstGeom>
          <a:noFill/>
          <a:ln/>
        </p:spPr>
        <p:txBody>
          <a:bodyPr wrap="square" lIns="0" tIns="0" rIns="0" bIns="0" rtlCol="0" anchor="ctr"/>
          <a:lstStyle/>
          <a:p>
            <a:pPr indent="0" marL="0">
              <a:lnSpc>
                <a:spcPts val="1250"/>
              </a:lnSpc>
              <a:buNone/>
            </a:pPr>
            <a:r>
              <a:rPr lang="en-US" sz="950" b="1" dirty="0">
                <a:solidFill>
                  <a:srgbClr val="16232E"/>
                </a:solidFill>
                <a:latin typeface="Calibri" pitchFamily="34" charset="0"/>
                <a:ea typeface="Calibri" pitchFamily="34" charset="-122"/>
                <a:cs typeface="Calibri" pitchFamily="34" charset="-120"/>
              </a:rPr>
              <a:t>We need:  </a:t>
            </a:r>
            <a:pPr indent="0" marL="0">
              <a:lnSpc>
                <a:spcPts val="1250"/>
              </a:lnSpc>
              <a:buNone/>
            </a:pPr>
            <a:r>
              <a:rPr lang="en-US" sz="950" dirty="0">
                <a:solidFill>
                  <a:srgbClr val="5D6E7C"/>
                </a:solidFill>
                <a:latin typeface="Calibri" pitchFamily="34" charset="0"/>
                <a:ea typeface="Calibri" pitchFamily="34" charset="-122"/>
                <a:cs typeface="Calibri" pitchFamily="34" charset="-120"/>
              </a:rPr>
              <a:t>Happy with how this reads on the payslip?</a:t>
            </a:r>
            <a:endParaRPr lang="en-US" sz="950" dirty="0"/>
          </a:p>
        </p:txBody>
      </p:sp>
      <p:sp>
        <p:nvSpPr>
          <p:cNvPr id="26" name="Shape 24"/>
          <p:cNvSpPr/>
          <p:nvPr/>
        </p:nvSpPr>
        <p:spPr>
          <a:xfrm>
            <a:off x="566928" y="5303520"/>
            <a:ext cx="11055096" cy="1078992"/>
          </a:xfrm>
          <a:prstGeom prst="roundRect">
            <a:avLst>
              <a:gd name="adj" fmla="val 6780"/>
            </a:avLst>
          </a:prstGeom>
          <a:solidFill>
            <a:srgbClr val="F4F8FC"/>
          </a:solidFill>
          <a:ln w="12700">
            <a:solidFill>
              <a:srgbClr val="F4F8FC"/>
            </a:solidFill>
            <a:prstDash val="solid"/>
          </a:ln>
        </p:spPr>
      </p:sp>
      <p:sp>
        <p:nvSpPr>
          <p:cNvPr id="27" name="Shape 25"/>
          <p:cNvSpPr/>
          <p:nvPr/>
        </p:nvSpPr>
        <p:spPr>
          <a:xfrm>
            <a:off x="804672" y="5486400"/>
            <a:ext cx="347472" cy="347472"/>
          </a:xfrm>
          <a:prstGeom prst="ellipse">
            <a:avLst/>
          </a:prstGeom>
          <a:solidFill>
            <a:srgbClr val="0E76BC"/>
          </a:solidFill>
          <a:ln/>
        </p:spPr>
      </p:sp>
      <p:sp>
        <p:nvSpPr>
          <p:cNvPr id="28" name="Text 26"/>
          <p:cNvSpPr txBox="1"/>
          <p:nvPr/>
        </p:nvSpPr>
        <p:spPr>
          <a:xfrm>
            <a:off x="804672" y="548640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9" name="Text 27"/>
          <p:cNvSpPr txBox="1"/>
          <p:nvPr/>
        </p:nvSpPr>
        <p:spPr>
          <a:xfrm>
            <a:off x="1280160" y="5422392"/>
            <a:ext cx="2651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Two duplicate references</a:t>
            </a:r>
            <a:endParaRPr lang="en-US" sz="1250" dirty="0"/>
          </a:p>
        </p:txBody>
      </p:sp>
      <p:sp>
        <p:nvSpPr>
          <p:cNvPr id="30" name="Text 28"/>
          <p:cNvSpPr txBox="1"/>
          <p:nvPr/>
        </p:nvSpPr>
        <p:spPr>
          <a:xfrm>
            <a:off x="1280160" y="5687568"/>
            <a:ext cx="2651760" cy="640080"/>
          </a:xfrm>
          <a:prstGeom prst="rect">
            <a:avLst/>
          </a:prstGeom>
          <a:noFill/>
          <a:ln/>
        </p:spPr>
        <p:txBody>
          <a:bodyPr wrap="square" lIns="0" tIns="0" rIns="0" bIns="0" rtlCol="0" anchor="ctr"/>
          <a:lstStyle/>
          <a:p>
            <a:pPr indent="0" marL="0">
              <a:lnSpc>
                <a:spcPts val="1200"/>
              </a:lnSpc>
              <a:buNone/>
            </a:pPr>
            <a:r>
              <a:rPr lang="en-US" sz="950" dirty="0">
                <a:solidFill>
                  <a:srgbClr val="5D6E7C"/>
                </a:solidFill>
                <a:latin typeface="Calibri" pitchFamily="34" charset="0"/>
                <a:ea typeface="Calibri" pitchFamily="34" charset="-122"/>
                <a:cs typeface="Calibri" pitchFamily="34" charset="-120"/>
              </a:rPr>
              <a:t>Your bank file gives staff 1011 and 1012 the same reference, EMP011 — and 1029 and 1031 both EMP032.</a:t>
            </a:r>
            <a:endParaRPr lang="en-US" sz="950" dirty="0"/>
          </a:p>
        </p:txBody>
      </p:sp>
      <p:sp>
        <p:nvSpPr>
          <p:cNvPr id="31" name="Text 29"/>
          <p:cNvSpPr txBox="1"/>
          <p:nvPr/>
        </p:nvSpPr>
        <p:spPr>
          <a:xfrm>
            <a:off x="4114800" y="5449824"/>
            <a:ext cx="4572000" cy="859536"/>
          </a:xfrm>
          <a:prstGeom prst="rect">
            <a:avLst/>
          </a:prstGeom>
          <a:noFill/>
          <a:ln/>
        </p:spPr>
        <p:txBody>
          <a:bodyPr wrap="square" lIns="0" tIns="0" rIns="0" bIns="0" rtlCol="0" anchor="ctr"/>
          <a:lstStyle/>
          <a:p>
            <a:pPr indent="0" marL="0">
              <a:lnSpc>
                <a:spcPts val="1300"/>
              </a:lnSpc>
              <a:buNone/>
            </a:pPr>
            <a:r>
              <a:rPr lang="en-US" sz="1000" dirty="0">
                <a:solidFill>
                  <a:srgbClr val="5D6E7C"/>
                </a:solidFill>
                <a:latin typeface="Calibri" pitchFamily="34" charset="0"/>
                <a:ea typeface="Calibri" pitchFamily="34" charset="-122"/>
                <a:cs typeface="Calibri" pitchFamily="34" charset="-120"/>
              </a:rPr>
              <a:t>Two people sharing a payment reference is the kind of thing a bank queries, or worse, applies to the wrong account.</a:t>
            </a:r>
            <a:endParaRPr lang="en-US" sz="1000" dirty="0"/>
          </a:p>
        </p:txBody>
      </p:sp>
      <p:sp>
        <p:nvSpPr>
          <p:cNvPr id="32" name="Text 30"/>
          <p:cNvSpPr txBox="1"/>
          <p:nvPr/>
        </p:nvSpPr>
        <p:spPr>
          <a:xfrm>
            <a:off x="8887968" y="5449824"/>
            <a:ext cx="2468880" cy="859536"/>
          </a:xfrm>
          <a:prstGeom prst="rect">
            <a:avLst/>
          </a:prstGeom>
          <a:noFill/>
          <a:ln/>
        </p:spPr>
        <p:txBody>
          <a:bodyPr wrap="square" lIns="0" tIns="0" rIns="0" bIns="0" rtlCol="0" anchor="ctr"/>
          <a:lstStyle/>
          <a:p>
            <a:pPr indent="0" marL="0">
              <a:lnSpc>
                <a:spcPts val="1250"/>
              </a:lnSpc>
              <a:buNone/>
            </a:pPr>
            <a:r>
              <a:rPr lang="en-US" sz="950" b="1" dirty="0">
                <a:solidFill>
                  <a:srgbClr val="16232E"/>
                </a:solidFill>
                <a:latin typeface="Calibri" pitchFamily="34" charset="0"/>
                <a:ea typeface="Calibri" pitchFamily="34" charset="-122"/>
                <a:cs typeface="Calibri" pitchFamily="34" charset="-120"/>
              </a:rPr>
              <a:t>We need:  </a:t>
            </a:r>
            <a:pPr indent="0" marL="0">
              <a:lnSpc>
                <a:spcPts val="1250"/>
              </a:lnSpc>
              <a:buNone/>
            </a:pPr>
            <a:r>
              <a:rPr lang="en-US" sz="950" dirty="0">
                <a:solidFill>
                  <a:srgbClr val="5D6E7C"/>
                </a:solidFill>
                <a:latin typeface="Calibri" pitchFamily="34" charset="0"/>
                <a:ea typeface="Calibri" pitchFamily="34" charset="-122"/>
                <a:cs typeface="Calibri" pitchFamily="34" charset="-120"/>
              </a:rPr>
              <a:t>Which reference belongs to whom?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Two working days become half an hour</a:t>
            </a:r>
            <a:endParaRPr lang="en-US" sz="3100" dirty="0"/>
          </a:p>
        </p:txBody>
      </p:sp>
      <p:graphicFrame>
        <p:nvGraphicFramePr>
          <p:cNvPr id="4" name="Chart 0" descr=""/>
          <p:cNvGraphicFramePr/>
          <p:nvPr/>
        </p:nvGraphicFramePr>
        <p:xfrm>
          <a:off x="566928" y="1481328"/>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572768"/>
            <a:ext cx="3931920" cy="292608"/>
          </a:xfrm>
          <a:prstGeom prst="rect">
            <a:avLst/>
          </a:prstGeom>
          <a:noFill/>
          <a:ln/>
        </p:spPr>
        <p:txBody>
          <a:bodyPr wrap="square" lIns="0" tIns="0" rIns="0" bIns="0" rtlCol="0" anchor="ctr"/>
          <a:lstStyle/>
          <a:p>
            <a:pPr indent="0" marL="0">
              <a:buNone/>
            </a:pPr>
            <a:r>
              <a:rPr lang="en-US" sz="1800" b="1" dirty="0">
                <a:solidFill>
                  <a:srgbClr val="1B7A4F"/>
                </a:solidFill>
                <a:latin typeface="Cambria" pitchFamily="34" charset="0"/>
                <a:ea typeface="Cambria" pitchFamily="34" charset="-122"/>
                <a:cs typeface="Cambria" pitchFamily="34" charset="-120"/>
              </a:rPr>
              <a:t>Roughly 97%</a:t>
            </a:r>
            <a:endParaRPr lang="en-US" sz="1800" dirty="0"/>
          </a:p>
        </p:txBody>
      </p:sp>
      <p:sp>
        <p:nvSpPr>
          <p:cNvPr id="6" name="Text 3"/>
          <p:cNvSpPr txBox="1"/>
          <p:nvPr/>
        </p:nvSpPr>
        <p:spPr>
          <a:xfrm>
            <a:off x="7680960" y="1865376"/>
            <a:ext cx="3931920" cy="58521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less time on mechanical work — freed for review and judgement</a:t>
            </a:r>
            <a:endParaRPr lang="en-US" sz="1050" dirty="0"/>
          </a:p>
        </p:txBody>
      </p:sp>
      <p:sp>
        <p:nvSpPr>
          <p:cNvPr id="7" name="Text 4"/>
          <p:cNvSpPr txBox="1"/>
          <p:nvPr/>
        </p:nvSpPr>
        <p:spPr>
          <a:xfrm>
            <a:off x="7680960" y="2505456"/>
            <a:ext cx="3931920" cy="292608"/>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Around 160 hours</a:t>
            </a:r>
            <a:endParaRPr lang="en-US" sz="1800" dirty="0"/>
          </a:p>
        </p:txBody>
      </p:sp>
      <p:sp>
        <p:nvSpPr>
          <p:cNvPr id="8" name="Text 5"/>
          <p:cNvSpPr txBox="1"/>
          <p:nvPr/>
        </p:nvSpPr>
        <p:spPr>
          <a:xfrm>
            <a:off x="7680960" y="2798064"/>
            <a:ext cx="3931920" cy="58521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a year: four working weeks back to the finance team</a:t>
            </a:r>
            <a:endParaRPr lang="en-US" sz="1050" dirty="0"/>
          </a:p>
        </p:txBody>
      </p:sp>
      <p:sp>
        <p:nvSpPr>
          <p:cNvPr id="9" name="Text 6"/>
          <p:cNvSpPr txBox="1"/>
          <p:nvPr/>
        </p:nvSpPr>
        <p:spPr>
          <a:xfrm>
            <a:off x="7680960" y="3438144"/>
            <a:ext cx="3931920" cy="292608"/>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No broken formulas</a:t>
            </a:r>
            <a:endParaRPr lang="en-US" sz="1800" dirty="0"/>
          </a:p>
        </p:txBody>
      </p:sp>
      <p:sp>
        <p:nvSpPr>
          <p:cNvPr id="10" name="Text 7"/>
          <p:cNvSpPr txBox="1"/>
          <p:nvPr/>
        </p:nvSpPr>
        <p:spPr>
          <a:xfrm>
            <a:off x="7680960" y="3730752"/>
            <a:ext cx="3931920" cy="58521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there are no cell references to overwrite, so no #REF! and no total that quietly stops one row short</a:t>
            </a:r>
            <a:endParaRPr lang="en-US" sz="1050" dirty="0"/>
          </a:p>
        </p:txBody>
      </p:sp>
      <p:sp>
        <p:nvSpPr>
          <p:cNvPr id="11" name="Text 8"/>
          <p:cNvSpPr txBox="1"/>
          <p:nvPr/>
        </p:nvSpPr>
        <p:spPr>
          <a:xfrm>
            <a:off x="7680960" y="4370832"/>
            <a:ext cx="3931920" cy="292608"/>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Nothing posts unreviewed</a:t>
            </a:r>
            <a:endParaRPr lang="en-US" sz="1800" dirty="0"/>
          </a:p>
        </p:txBody>
      </p:sp>
      <p:sp>
        <p:nvSpPr>
          <p:cNvPr id="12" name="Text 9"/>
          <p:cNvSpPr txBox="1"/>
          <p:nvPr/>
        </p:nvSpPr>
        <p:spPr>
          <a:xfrm>
            <a:off x="7680960" y="4663440"/>
            <a:ext cx="3931920" cy="58521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preparation and approval are separate, deliberate steps</a:t>
            </a:r>
            <a:endParaRPr lang="en-US" sz="1050" dirty="0"/>
          </a:p>
        </p:txBody>
      </p:sp>
      <p:sp>
        <p:nvSpPr>
          <p:cNvPr id="13" name="Text 10"/>
          <p:cNvSpPr txBox="1"/>
          <p:nvPr/>
        </p:nvSpPr>
        <p:spPr>
          <a:xfrm>
            <a:off x="566928" y="5413248"/>
            <a:ext cx="11055096" cy="274320"/>
          </a:xfrm>
          <a:prstGeom prst="rect">
            <a:avLst/>
          </a:prstGeom>
          <a:noFill/>
          <a:ln/>
        </p:spPr>
        <p:txBody>
          <a:bodyPr wrap="square" lIns="0" tIns="0" rIns="0" bIns="0" rtlCol="0" anchor="ctr"/>
          <a:lstStyle/>
          <a:p>
            <a:pPr indent="0" marL="0">
              <a:buNone/>
            </a:pPr>
            <a:r>
              <a:rPr lang="en-US" sz="1000" i="1" dirty="0">
                <a:solidFill>
                  <a:srgbClr val="5D6E7C"/>
                </a:solidFill>
                <a:latin typeface="Calibri" pitchFamily="34" charset="0"/>
                <a:ea typeface="Calibri" pitchFamily="34" charset="-122"/>
                <a:cs typeface="Calibri" pitchFamily="34" charset="-120"/>
              </a:rPr>
              <a:t>Hours by hand are our estimate from the steps your November workbook implies — correct them and we'll restate.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IN THE BOX</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One approved run, everything that follows</a:t>
            </a:r>
            <a:endParaRPr lang="en-US" sz="3100" dirty="0"/>
          </a:p>
        </p:txBody>
      </p:sp>
      <p:sp>
        <p:nvSpPr>
          <p:cNvPr id="4" name="Shape 2"/>
          <p:cNvSpPr/>
          <p:nvPr/>
        </p:nvSpPr>
        <p:spPr>
          <a:xfrm>
            <a:off x="566928" y="1517904"/>
            <a:ext cx="3538728" cy="1426464"/>
          </a:xfrm>
          <a:prstGeom prst="roundRect">
            <a:avLst>
              <a:gd name="adj" fmla="val 5128"/>
            </a:avLst>
          </a:prstGeom>
          <a:solidFill>
            <a:srgbClr val="E9F3FB"/>
          </a:solidFill>
          <a:ln w="12700">
            <a:solidFill>
              <a:srgbClr val="E9F3FB"/>
            </a:solidFill>
            <a:prstDash val="solid"/>
          </a:ln>
        </p:spPr>
      </p:sp>
      <p:sp>
        <p:nvSpPr>
          <p:cNvPr id="5" name="Shape 3"/>
          <p:cNvSpPr/>
          <p:nvPr/>
        </p:nvSpPr>
        <p:spPr>
          <a:xfrm>
            <a:off x="786384" y="1719072"/>
            <a:ext cx="347472" cy="347472"/>
          </a:xfrm>
          <a:prstGeom prst="ellipse">
            <a:avLst/>
          </a:prstGeom>
          <a:solidFill>
            <a:srgbClr val="0E76BC"/>
          </a:solidFill>
          <a:ln/>
        </p:spPr>
      </p:sp>
      <p:sp>
        <p:nvSpPr>
          <p:cNvPr id="6" name="Text 4"/>
          <p:cNvSpPr txBox="1"/>
          <p:nvPr/>
        </p:nvSpPr>
        <p:spPr>
          <a:xfrm>
            <a:off x="786384" y="171907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225296" y="1737360"/>
            <a:ext cx="2679192"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Payslips</a:t>
            </a:r>
            <a:endParaRPr lang="en-US" sz="1450" dirty="0"/>
          </a:p>
        </p:txBody>
      </p:sp>
      <p:sp>
        <p:nvSpPr>
          <p:cNvPr id="8" name="Text 6"/>
          <p:cNvSpPr txBox="1"/>
          <p:nvPr/>
        </p:nvSpPr>
        <p:spPr>
          <a:xfrm>
            <a:off x="786384" y="2157984"/>
            <a:ext cx="3099816" cy="67665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A PDF per employee in seconds — or collected by staff themselves.</a:t>
            </a:r>
            <a:endParaRPr lang="en-US" sz="1050" dirty="0"/>
          </a:p>
        </p:txBody>
      </p:sp>
      <p:sp>
        <p:nvSpPr>
          <p:cNvPr id="9" name="Shape 7"/>
          <p:cNvSpPr/>
          <p:nvPr/>
        </p:nvSpPr>
        <p:spPr>
          <a:xfrm>
            <a:off x="4306824" y="1517904"/>
            <a:ext cx="3538728" cy="1426464"/>
          </a:xfrm>
          <a:prstGeom prst="roundRect">
            <a:avLst>
              <a:gd name="adj" fmla="val 5128"/>
            </a:avLst>
          </a:prstGeom>
          <a:solidFill>
            <a:srgbClr val="E9F3FB"/>
          </a:solidFill>
          <a:ln w="12700">
            <a:solidFill>
              <a:srgbClr val="E9F3FB"/>
            </a:solidFill>
            <a:prstDash val="solid"/>
          </a:ln>
        </p:spPr>
      </p:sp>
      <p:sp>
        <p:nvSpPr>
          <p:cNvPr id="10" name="Shape 8"/>
          <p:cNvSpPr/>
          <p:nvPr/>
        </p:nvSpPr>
        <p:spPr>
          <a:xfrm>
            <a:off x="4526280" y="1719072"/>
            <a:ext cx="347472" cy="347472"/>
          </a:xfrm>
          <a:prstGeom prst="ellipse">
            <a:avLst/>
          </a:prstGeom>
          <a:solidFill>
            <a:srgbClr val="0E76BC"/>
          </a:solidFill>
          <a:ln/>
        </p:spPr>
      </p:sp>
      <p:sp>
        <p:nvSpPr>
          <p:cNvPr id="11" name="Text 9"/>
          <p:cNvSpPr txBox="1"/>
          <p:nvPr/>
        </p:nvSpPr>
        <p:spPr>
          <a:xfrm>
            <a:off x="4526280" y="171907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4965192" y="1737360"/>
            <a:ext cx="2679192"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P9 certificates</a:t>
            </a:r>
            <a:endParaRPr lang="en-US" sz="1450" dirty="0"/>
          </a:p>
        </p:txBody>
      </p:sp>
      <p:sp>
        <p:nvSpPr>
          <p:cNvPr id="13" name="Text 11"/>
          <p:cNvSpPr txBox="1"/>
          <p:nvPr/>
        </p:nvSpPr>
        <p:spPr>
          <a:xfrm>
            <a:off x="4526280" y="2157984"/>
            <a:ext cx="3099816" cy="67665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Individually or all 46 at once, ready for the KRA return.</a:t>
            </a:r>
            <a:endParaRPr lang="en-US" sz="1050" dirty="0"/>
          </a:p>
        </p:txBody>
      </p:sp>
      <p:sp>
        <p:nvSpPr>
          <p:cNvPr id="14" name="Shape 12"/>
          <p:cNvSpPr/>
          <p:nvPr/>
        </p:nvSpPr>
        <p:spPr>
          <a:xfrm>
            <a:off x="8046720" y="1517904"/>
            <a:ext cx="3538728" cy="1426464"/>
          </a:xfrm>
          <a:prstGeom prst="roundRect">
            <a:avLst>
              <a:gd name="adj" fmla="val 5128"/>
            </a:avLst>
          </a:prstGeom>
          <a:solidFill>
            <a:srgbClr val="E9F3FB"/>
          </a:solidFill>
          <a:ln w="12700">
            <a:solidFill>
              <a:srgbClr val="E9F3FB"/>
            </a:solidFill>
            <a:prstDash val="solid"/>
          </a:ln>
        </p:spPr>
      </p:sp>
      <p:sp>
        <p:nvSpPr>
          <p:cNvPr id="15" name="Shape 13"/>
          <p:cNvSpPr/>
          <p:nvPr/>
        </p:nvSpPr>
        <p:spPr>
          <a:xfrm>
            <a:off x="8266176" y="1719072"/>
            <a:ext cx="347472" cy="347472"/>
          </a:xfrm>
          <a:prstGeom prst="ellipse">
            <a:avLst/>
          </a:prstGeom>
          <a:solidFill>
            <a:srgbClr val="0E76BC"/>
          </a:solidFill>
          <a:ln/>
        </p:spPr>
      </p:sp>
      <p:sp>
        <p:nvSpPr>
          <p:cNvPr id="16" name="Text 14"/>
          <p:cNvSpPr txBox="1"/>
          <p:nvPr/>
        </p:nvSpPr>
        <p:spPr>
          <a:xfrm>
            <a:off x="8266176" y="171907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8705088" y="1737360"/>
            <a:ext cx="2679192"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Bank batch file</a:t>
            </a:r>
            <a:endParaRPr lang="en-US" sz="1450" dirty="0"/>
          </a:p>
        </p:txBody>
      </p:sp>
      <p:sp>
        <p:nvSpPr>
          <p:cNvPr id="18" name="Text 16"/>
          <p:cNvSpPr txBox="1"/>
          <p:nvPr/>
        </p:nvSpPr>
        <p:spPr>
          <a:xfrm>
            <a:off x="8266176" y="2157984"/>
            <a:ext cx="3099816" cy="67665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Built to your bank's own layout — header, debit, 46 payments, trailer.</a:t>
            </a:r>
            <a:endParaRPr lang="en-US" sz="1050" dirty="0"/>
          </a:p>
        </p:txBody>
      </p:sp>
      <p:sp>
        <p:nvSpPr>
          <p:cNvPr id="19" name="Shape 17"/>
          <p:cNvSpPr/>
          <p:nvPr/>
        </p:nvSpPr>
        <p:spPr>
          <a:xfrm>
            <a:off x="566928" y="3108960"/>
            <a:ext cx="3538728" cy="1426464"/>
          </a:xfrm>
          <a:prstGeom prst="roundRect">
            <a:avLst>
              <a:gd name="adj" fmla="val 5128"/>
            </a:avLst>
          </a:prstGeom>
          <a:solidFill>
            <a:srgbClr val="F4F8FC"/>
          </a:solidFill>
          <a:ln w="12700">
            <a:solidFill>
              <a:srgbClr val="F4F8FC"/>
            </a:solidFill>
            <a:prstDash val="solid"/>
          </a:ln>
        </p:spPr>
      </p:sp>
      <p:sp>
        <p:nvSpPr>
          <p:cNvPr id="20" name="Shape 18"/>
          <p:cNvSpPr/>
          <p:nvPr/>
        </p:nvSpPr>
        <p:spPr>
          <a:xfrm>
            <a:off x="786384" y="3310128"/>
            <a:ext cx="347472" cy="347472"/>
          </a:xfrm>
          <a:prstGeom prst="ellipse">
            <a:avLst/>
          </a:prstGeom>
          <a:solidFill>
            <a:srgbClr val="0E76BC"/>
          </a:solidFill>
          <a:ln/>
        </p:spPr>
      </p:sp>
      <p:sp>
        <p:nvSpPr>
          <p:cNvPr id="21" name="Text 19"/>
          <p:cNvSpPr txBox="1"/>
          <p:nvPr/>
        </p:nvSpPr>
        <p:spPr>
          <a:xfrm>
            <a:off x="786384" y="331012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txBox="1"/>
          <p:nvPr/>
        </p:nvSpPr>
        <p:spPr>
          <a:xfrm>
            <a:off x="1225296" y="3328416"/>
            <a:ext cx="2679192"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iTax PAYE export</a:t>
            </a:r>
            <a:endParaRPr lang="en-US" sz="1450" dirty="0"/>
          </a:p>
        </p:txBody>
      </p:sp>
      <p:sp>
        <p:nvSpPr>
          <p:cNvPr id="23" name="Text 21"/>
          <p:cNvSpPr txBox="1"/>
          <p:nvPr/>
        </p:nvSpPr>
        <p:spPr>
          <a:xfrm>
            <a:off x="786384" y="3749040"/>
            <a:ext cx="3099816" cy="67665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The PAYE return, ready for KRA submission.</a:t>
            </a:r>
            <a:endParaRPr lang="en-US" sz="1050" dirty="0"/>
          </a:p>
        </p:txBody>
      </p:sp>
      <p:sp>
        <p:nvSpPr>
          <p:cNvPr id="24" name="Shape 22"/>
          <p:cNvSpPr/>
          <p:nvPr/>
        </p:nvSpPr>
        <p:spPr>
          <a:xfrm>
            <a:off x="4306824" y="3108960"/>
            <a:ext cx="3538728" cy="1426464"/>
          </a:xfrm>
          <a:prstGeom prst="roundRect">
            <a:avLst>
              <a:gd name="adj" fmla="val 5128"/>
            </a:avLst>
          </a:prstGeom>
          <a:solidFill>
            <a:srgbClr val="F4F8FC"/>
          </a:solidFill>
          <a:ln w="12700">
            <a:solidFill>
              <a:srgbClr val="F4F8FC"/>
            </a:solidFill>
            <a:prstDash val="solid"/>
          </a:ln>
        </p:spPr>
      </p:sp>
      <p:sp>
        <p:nvSpPr>
          <p:cNvPr id="25" name="Shape 23"/>
          <p:cNvSpPr/>
          <p:nvPr/>
        </p:nvSpPr>
        <p:spPr>
          <a:xfrm>
            <a:off x="4526280" y="3310128"/>
            <a:ext cx="347472" cy="347472"/>
          </a:xfrm>
          <a:prstGeom prst="ellipse">
            <a:avLst/>
          </a:prstGeom>
          <a:solidFill>
            <a:srgbClr val="0E76BC"/>
          </a:solidFill>
          <a:ln/>
        </p:spPr>
      </p:sp>
      <p:sp>
        <p:nvSpPr>
          <p:cNvPr id="26" name="Text 24"/>
          <p:cNvSpPr txBox="1"/>
          <p:nvPr/>
        </p:nvSpPr>
        <p:spPr>
          <a:xfrm>
            <a:off x="4526280" y="331012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7" name="Text 25"/>
          <p:cNvSpPr txBox="1"/>
          <p:nvPr/>
        </p:nvSpPr>
        <p:spPr>
          <a:xfrm>
            <a:off x="4965192" y="3328416"/>
            <a:ext cx="2679192"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AX journal</a:t>
            </a:r>
            <a:endParaRPr lang="en-US" sz="1450" dirty="0"/>
          </a:p>
        </p:txBody>
      </p:sp>
      <p:sp>
        <p:nvSpPr>
          <p:cNvPr id="28" name="Text 26"/>
          <p:cNvSpPr txBox="1"/>
          <p:nvPr/>
        </p:nvSpPr>
        <p:spPr>
          <a:xfrm>
            <a:off x="4526280" y="3749040"/>
            <a:ext cx="3099816" cy="67665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Your ten-column upload file, balanced and cost-centred.</a:t>
            </a:r>
            <a:endParaRPr lang="en-US" sz="1050" dirty="0"/>
          </a:p>
        </p:txBody>
      </p:sp>
      <p:sp>
        <p:nvSpPr>
          <p:cNvPr id="29" name="Shape 27"/>
          <p:cNvSpPr/>
          <p:nvPr/>
        </p:nvSpPr>
        <p:spPr>
          <a:xfrm>
            <a:off x="8046720" y="3108960"/>
            <a:ext cx="3538728" cy="1426464"/>
          </a:xfrm>
          <a:prstGeom prst="roundRect">
            <a:avLst>
              <a:gd name="adj" fmla="val 5128"/>
            </a:avLst>
          </a:prstGeom>
          <a:solidFill>
            <a:srgbClr val="F4F8FC"/>
          </a:solidFill>
          <a:ln w="12700">
            <a:solidFill>
              <a:srgbClr val="F4F8FC"/>
            </a:solidFill>
            <a:prstDash val="solid"/>
          </a:ln>
        </p:spPr>
      </p:sp>
      <p:sp>
        <p:nvSpPr>
          <p:cNvPr id="30" name="Shape 28"/>
          <p:cNvSpPr/>
          <p:nvPr/>
        </p:nvSpPr>
        <p:spPr>
          <a:xfrm>
            <a:off x="8266176" y="3310128"/>
            <a:ext cx="347472" cy="347472"/>
          </a:xfrm>
          <a:prstGeom prst="ellipse">
            <a:avLst/>
          </a:prstGeom>
          <a:solidFill>
            <a:srgbClr val="0E76BC"/>
          </a:solidFill>
          <a:ln/>
        </p:spPr>
      </p:sp>
      <p:sp>
        <p:nvSpPr>
          <p:cNvPr id="31" name="Text 29"/>
          <p:cNvSpPr txBox="1"/>
          <p:nvPr/>
        </p:nvSpPr>
        <p:spPr>
          <a:xfrm>
            <a:off x="8266176" y="331012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32" name="Text 30"/>
          <p:cNvSpPr txBox="1"/>
          <p:nvPr/>
        </p:nvSpPr>
        <p:spPr>
          <a:xfrm>
            <a:off x="8705088" y="3328416"/>
            <a:ext cx="2679192"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Register &amp; reports</a:t>
            </a:r>
            <a:endParaRPr lang="en-US" sz="1450" dirty="0"/>
          </a:p>
        </p:txBody>
      </p:sp>
      <p:sp>
        <p:nvSpPr>
          <p:cNvPr id="33" name="Text 31"/>
          <p:cNvSpPr txBox="1"/>
          <p:nvPr/>
        </p:nvSpPr>
        <p:spPr>
          <a:xfrm>
            <a:off x="8266176" y="3749040"/>
            <a:ext cx="3099816" cy="67665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All 40 columns, plus gross, fringe and cash cost by cost centre.</a:t>
            </a:r>
            <a:endParaRPr lang="en-US" sz="1050" dirty="0"/>
          </a:p>
        </p:txBody>
      </p:sp>
      <p:sp>
        <p:nvSpPr>
          <p:cNvPr id="34" name="Shape 32"/>
          <p:cNvSpPr/>
          <p:nvPr/>
        </p:nvSpPr>
        <p:spPr>
          <a:xfrm>
            <a:off x="566928" y="4773168"/>
            <a:ext cx="5431536" cy="1042416"/>
          </a:xfrm>
          <a:prstGeom prst="roundRect">
            <a:avLst>
              <a:gd name="adj" fmla="val 7018"/>
            </a:avLst>
          </a:prstGeom>
          <a:solidFill>
            <a:srgbClr val="F4F8FC"/>
          </a:solidFill>
          <a:ln w="12700">
            <a:solidFill>
              <a:srgbClr val="F4F8FC"/>
            </a:solidFill>
            <a:prstDash val="solid"/>
          </a:ln>
        </p:spPr>
      </p:sp>
      <p:sp>
        <p:nvSpPr>
          <p:cNvPr id="35" name="Text 33"/>
          <p:cNvSpPr txBox="1"/>
          <p:nvPr/>
        </p:nvSpPr>
        <p:spPr>
          <a:xfrm>
            <a:off x="822960" y="4919472"/>
            <a:ext cx="4937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Employee self-service</a:t>
            </a:r>
            <a:endParaRPr lang="en-US" sz="1250" dirty="0"/>
          </a:p>
        </p:txBody>
      </p:sp>
      <p:sp>
        <p:nvSpPr>
          <p:cNvPr id="36" name="Text 34"/>
          <p:cNvSpPr txBox="1"/>
          <p:nvPr/>
        </p:nvSpPr>
        <p:spPr>
          <a:xfrm>
            <a:off x="822960" y="5175504"/>
            <a:ext cx="4937760" cy="548640"/>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Staff sign in with their work email and the last 4 characters of their own KRA PIN, and see only their own payslips and P9s. "Can you resend my payslip" stops arriving.</a:t>
            </a:r>
            <a:endParaRPr lang="en-US" sz="1050" dirty="0"/>
          </a:p>
        </p:txBody>
      </p:sp>
      <p:sp>
        <p:nvSpPr>
          <p:cNvPr id="37" name="Shape 35"/>
          <p:cNvSpPr/>
          <p:nvPr/>
        </p:nvSpPr>
        <p:spPr>
          <a:xfrm>
            <a:off x="6190488" y="4773168"/>
            <a:ext cx="5431536" cy="1042416"/>
          </a:xfrm>
          <a:prstGeom prst="roundRect">
            <a:avLst>
              <a:gd name="adj" fmla="val 7018"/>
            </a:avLst>
          </a:prstGeom>
          <a:solidFill>
            <a:srgbClr val="F4F8FC"/>
          </a:solidFill>
          <a:ln w="12700">
            <a:solidFill>
              <a:srgbClr val="F4F8FC"/>
            </a:solidFill>
            <a:prstDash val="solid"/>
          </a:ln>
        </p:spPr>
      </p:sp>
      <p:sp>
        <p:nvSpPr>
          <p:cNvPr id="38" name="Text 36"/>
          <p:cNvSpPr txBox="1"/>
          <p:nvPr/>
        </p:nvSpPr>
        <p:spPr>
          <a:xfrm>
            <a:off x="6446520" y="4919472"/>
            <a:ext cx="4937760" cy="256032"/>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Staff document store</a:t>
            </a:r>
            <a:endParaRPr lang="en-US" sz="1250" dirty="0"/>
          </a:p>
        </p:txBody>
      </p:sp>
      <p:sp>
        <p:nvSpPr>
          <p:cNvPr id="39" name="Text 37"/>
          <p:cNvSpPr txBox="1"/>
          <p:nvPr/>
        </p:nvSpPr>
        <p:spPr>
          <a:xfrm>
            <a:off x="6446520" y="5175504"/>
            <a:ext cx="4937760" cy="548640"/>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Contracts, IDs, certificates and HR correspondence filed against each employee, newest first — visible to the finance manager alone.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0E76BC"/>
                </a:solidFill>
                <a:latin typeface="Calibri" pitchFamily="34" charset="0"/>
                <a:ea typeface="Calibri" pitchFamily="34" charset="-122"/>
                <a:cs typeface="Calibri" pitchFamily="34" charset="-120"/>
              </a:rPr>
              <a:t>KEEPING IT SAFE</a:t>
            </a:r>
            <a:endParaRPr lang="en-US" sz="1100" dirty="0"/>
          </a:p>
        </p:txBody>
      </p:sp>
      <p:sp>
        <p:nvSpPr>
          <p:cNvPr id="3" name="Text 1"/>
          <p:cNvSpPr txBox="1"/>
          <p:nvPr/>
        </p:nvSpPr>
        <p:spPr>
          <a:xfrm>
            <a:off x="566928" y="676656"/>
            <a:ext cx="10607040" cy="676656"/>
          </a:xfrm>
          <a:prstGeom prst="rect">
            <a:avLst/>
          </a:prstGeom>
          <a:noFill/>
          <a:ln/>
        </p:spPr>
        <p:txBody>
          <a:bodyPr wrap="square" lIns="0" tIns="0" rIns="0" bIns="0" rtlCol="0" anchor="ctr"/>
          <a:lstStyle/>
          <a:p>
            <a:pPr indent="0" marL="0">
              <a:buNone/>
            </a:pPr>
            <a:r>
              <a:rPr lang="en-US" sz="3100" b="1" dirty="0">
                <a:solidFill>
                  <a:srgbClr val="16232E"/>
                </a:solidFill>
                <a:latin typeface="Cambria" pitchFamily="34" charset="0"/>
                <a:ea typeface="Cambria" pitchFamily="34" charset="-122"/>
                <a:cs typeface="Cambria" pitchFamily="34" charset="-120"/>
              </a:rPr>
              <a:t>Payroll data is the most sensitive thing you hold</a:t>
            </a:r>
            <a:endParaRPr lang="en-US" sz="3100" dirty="0"/>
          </a:p>
        </p:txBody>
      </p:sp>
      <p:sp>
        <p:nvSpPr>
          <p:cNvPr id="4" name="Text 2"/>
          <p:cNvSpPr txBox="1"/>
          <p:nvPr/>
        </p:nvSpPr>
        <p:spPr>
          <a:xfrm>
            <a:off x="566928" y="1371600"/>
            <a:ext cx="10881360" cy="274320"/>
          </a:xfrm>
          <a:prstGeom prst="rect">
            <a:avLst/>
          </a:prstGeom>
          <a:noFill/>
          <a:ln/>
        </p:spPr>
        <p:txBody>
          <a:bodyPr wrap="square" lIns="0" tIns="0" rIns="0" bIns="0" rtlCol="0" anchor="ctr"/>
          <a:lstStyle/>
          <a:p>
            <a:pPr indent="0" marL="0">
              <a:buNone/>
            </a:pPr>
            <a:r>
              <a:rPr lang="en-US" sz="1250" dirty="0">
                <a:solidFill>
                  <a:srgbClr val="5D6E7C"/>
                </a:solidFill>
                <a:latin typeface="Calibri" pitchFamily="34" charset="0"/>
                <a:ea typeface="Calibri" pitchFamily="34" charset="-122"/>
                <a:cs typeface="Calibri" pitchFamily="34" charset="-120"/>
              </a:rPr>
              <a:t>So it is protected in four independent layers — and we test them by attacking the system ourselves.</a:t>
            </a:r>
            <a:endParaRPr lang="en-US" sz="1250" dirty="0"/>
          </a:p>
        </p:txBody>
      </p:sp>
      <p:sp>
        <p:nvSpPr>
          <p:cNvPr id="5" name="Shape 3"/>
          <p:cNvSpPr/>
          <p:nvPr/>
        </p:nvSpPr>
        <p:spPr>
          <a:xfrm>
            <a:off x="566928" y="1737360"/>
            <a:ext cx="2651760" cy="2157984"/>
          </a:xfrm>
          <a:prstGeom prst="roundRect">
            <a:avLst>
              <a:gd name="adj" fmla="val 3390"/>
            </a:avLst>
          </a:prstGeom>
          <a:solidFill>
            <a:srgbClr val="E9F3FB"/>
          </a:solidFill>
          <a:ln w="12700">
            <a:solidFill>
              <a:srgbClr val="E9F3FB"/>
            </a:solidFill>
            <a:prstDash val="solid"/>
          </a:ln>
        </p:spPr>
      </p:sp>
      <p:sp>
        <p:nvSpPr>
          <p:cNvPr id="6" name="Shape 4"/>
          <p:cNvSpPr/>
          <p:nvPr/>
        </p:nvSpPr>
        <p:spPr>
          <a:xfrm>
            <a:off x="768096" y="1920240"/>
            <a:ext cx="384048" cy="384048"/>
          </a:xfrm>
          <a:prstGeom prst="ellipse">
            <a:avLst/>
          </a:prstGeom>
          <a:solidFill>
            <a:srgbClr val="0E76BC"/>
          </a:solidFill>
          <a:ln/>
        </p:spPr>
      </p:sp>
      <p:sp>
        <p:nvSpPr>
          <p:cNvPr id="7" name="Text 5"/>
          <p:cNvSpPr txBox="1"/>
          <p:nvPr/>
        </p:nvSpPr>
        <p:spPr>
          <a:xfrm>
            <a:off x="768096" y="19202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768096" y="2395728"/>
            <a:ext cx="2249424" cy="512064"/>
          </a:xfrm>
          <a:prstGeom prst="rect">
            <a:avLst/>
          </a:prstGeom>
          <a:noFill/>
          <a:ln/>
        </p:spPr>
        <p:txBody>
          <a:bodyPr wrap="square" lIns="0" tIns="0" rIns="0" bIns="0" rtlCol="0" anchor="ctr"/>
          <a:lstStyle/>
          <a:p>
            <a:pPr indent="0" marL="0">
              <a:lnSpc>
                <a:spcPts val="1600"/>
              </a:lnSpc>
              <a:buNone/>
            </a:pPr>
            <a:r>
              <a:rPr lang="en-US" sz="1250" b="1" dirty="0">
                <a:solidFill>
                  <a:srgbClr val="16232E"/>
                </a:solidFill>
                <a:latin typeface="Calibri" pitchFamily="34" charset="0"/>
                <a:ea typeface="Calibri" pitchFamily="34" charset="-122"/>
                <a:cs typeface="Calibri" pitchFamily="34" charset="-120"/>
              </a:rPr>
              <a:t>Checked on the server</a:t>
            </a:r>
            <a:endParaRPr lang="en-US" sz="1250" dirty="0"/>
          </a:p>
        </p:txBody>
      </p:sp>
      <p:sp>
        <p:nvSpPr>
          <p:cNvPr id="9" name="Text 7"/>
          <p:cNvSpPr txBox="1"/>
          <p:nvPr/>
        </p:nvSpPr>
        <p:spPr>
          <a:xfrm>
            <a:off x="768096" y="2926080"/>
            <a:ext cx="2249424" cy="85953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Hiding a menu item is not security. Every request is re-authorised before it returns anything.</a:t>
            </a:r>
            <a:endParaRPr lang="en-US" sz="1050" dirty="0"/>
          </a:p>
        </p:txBody>
      </p:sp>
      <p:sp>
        <p:nvSpPr>
          <p:cNvPr id="10" name="Shape 8"/>
          <p:cNvSpPr/>
          <p:nvPr/>
        </p:nvSpPr>
        <p:spPr>
          <a:xfrm>
            <a:off x="3364992" y="1737360"/>
            <a:ext cx="2651760" cy="2157984"/>
          </a:xfrm>
          <a:prstGeom prst="roundRect">
            <a:avLst>
              <a:gd name="adj" fmla="val 3390"/>
            </a:avLst>
          </a:prstGeom>
          <a:solidFill>
            <a:srgbClr val="F4F8FC"/>
          </a:solidFill>
          <a:ln w="12700">
            <a:solidFill>
              <a:srgbClr val="F4F8FC"/>
            </a:solidFill>
            <a:prstDash val="solid"/>
          </a:ln>
        </p:spPr>
      </p:sp>
      <p:sp>
        <p:nvSpPr>
          <p:cNvPr id="11" name="Shape 9"/>
          <p:cNvSpPr/>
          <p:nvPr/>
        </p:nvSpPr>
        <p:spPr>
          <a:xfrm>
            <a:off x="3566160" y="1920240"/>
            <a:ext cx="384048" cy="384048"/>
          </a:xfrm>
          <a:prstGeom prst="ellipse">
            <a:avLst/>
          </a:prstGeom>
          <a:solidFill>
            <a:srgbClr val="0E76BC"/>
          </a:solidFill>
          <a:ln/>
        </p:spPr>
      </p:sp>
      <p:sp>
        <p:nvSpPr>
          <p:cNvPr id="12" name="Text 10"/>
          <p:cNvSpPr txBox="1"/>
          <p:nvPr/>
        </p:nvSpPr>
        <p:spPr>
          <a:xfrm>
            <a:off x="3566160" y="19202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3566160" y="2395728"/>
            <a:ext cx="2249424" cy="512064"/>
          </a:xfrm>
          <a:prstGeom prst="rect">
            <a:avLst/>
          </a:prstGeom>
          <a:noFill/>
          <a:ln/>
        </p:spPr>
        <p:txBody>
          <a:bodyPr wrap="square" lIns="0" tIns="0" rIns="0" bIns="0" rtlCol="0" anchor="ctr"/>
          <a:lstStyle/>
          <a:p>
            <a:pPr indent="0" marL="0">
              <a:lnSpc>
                <a:spcPts val="1600"/>
              </a:lnSpc>
              <a:buNone/>
            </a:pPr>
            <a:r>
              <a:rPr lang="en-US" sz="1250" b="1" dirty="0">
                <a:solidFill>
                  <a:srgbClr val="16232E"/>
                </a:solidFill>
                <a:latin typeface="Calibri" pitchFamily="34" charset="0"/>
                <a:ea typeface="Calibri" pitchFamily="34" charset="-122"/>
                <a:cs typeface="Calibri" pitchFamily="34" charset="-120"/>
              </a:rPr>
              <a:t>Locked in the database</a:t>
            </a:r>
            <a:endParaRPr lang="en-US" sz="1250" dirty="0"/>
          </a:p>
        </p:txBody>
      </p:sp>
      <p:sp>
        <p:nvSpPr>
          <p:cNvPr id="14" name="Text 12"/>
          <p:cNvSpPr txBox="1"/>
          <p:nvPr/>
        </p:nvSpPr>
        <p:spPr>
          <a:xfrm>
            <a:off x="3566160" y="2926080"/>
            <a:ext cx="2249424" cy="85953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Even holding a valid login and going straight at the database, an employee gets zero rows of payroll or HR data.</a:t>
            </a:r>
            <a:endParaRPr lang="en-US" sz="1050" dirty="0"/>
          </a:p>
        </p:txBody>
      </p:sp>
      <p:sp>
        <p:nvSpPr>
          <p:cNvPr id="15" name="Shape 13"/>
          <p:cNvSpPr/>
          <p:nvPr/>
        </p:nvSpPr>
        <p:spPr>
          <a:xfrm>
            <a:off x="6163056" y="1737360"/>
            <a:ext cx="2651760" cy="2157984"/>
          </a:xfrm>
          <a:prstGeom prst="roundRect">
            <a:avLst>
              <a:gd name="adj" fmla="val 3390"/>
            </a:avLst>
          </a:prstGeom>
          <a:solidFill>
            <a:srgbClr val="E9F3FB"/>
          </a:solidFill>
          <a:ln w="12700">
            <a:solidFill>
              <a:srgbClr val="E9F3FB"/>
            </a:solidFill>
            <a:prstDash val="solid"/>
          </a:ln>
        </p:spPr>
      </p:sp>
      <p:sp>
        <p:nvSpPr>
          <p:cNvPr id="16" name="Shape 14"/>
          <p:cNvSpPr/>
          <p:nvPr/>
        </p:nvSpPr>
        <p:spPr>
          <a:xfrm>
            <a:off x="6364224" y="1920240"/>
            <a:ext cx="384048" cy="384048"/>
          </a:xfrm>
          <a:prstGeom prst="ellipse">
            <a:avLst/>
          </a:prstGeom>
          <a:solidFill>
            <a:srgbClr val="0E76BC"/>
          </a:solidFill>
          <a:ln/>
        </p:spPr>
      </p:sp>
      <p:sp>
        <p:nvSpPr>
          <p:cNvPr id="17" name="Text 15"/>
          <p:cNvSpPr txBox="1"/>
          <p:nvPr/>
        </p:nvSpPr>
        <p:spPr>
          <a:xfrm>
            <a:off x="6364224" y="19202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6364224" y="2395728"/>
            <a:ext cx="2249424" cy="512064"/>
          </a:xfrm>
          <a:prstGeom prst="rect">
            <a:avLst/>
          </a:prstGeom>
          <a:noFill/>
          <a:ln/>
        </p:spPr>
        <p:txBody>
          <a:bodyPr wrap="square" lIns="0" tIns="0" rIns="0" bIns="0" rtlCol="0" anchor="ctr"/>
          <a:lstStyle/>
          <a:p>
            <a:pPr indent="0" marL="0">
              <a:lnSpc>
                <a:spcPts val="1600"/>
              </a:lnSpc>
              <a:buNone/>
            </a:pPr>
            <a:r>
              <a:rPr lang="en-US" sz="1250" b="1" dirty="0">
                <a:solidFill>
                  <a:srgbClr val="16232E"/>
                </a:solidFill>
                <a:latin typeface="Calibri" pitchFamily="34" charset="0"/>
                <a:ea typeface="Calibri" pitchFamily="34" charset="-122"/>
                <a:cs typeface="Calibri" pitchFamily="34" charset="-120"/>
              </a:rPr>
              <a:t>Files guarded separately</a:t>
            </a:r>
            <a:endParaRPr lang="en-US" sz="1250" dirty="0"/>
          </a:p>
        </p:txBody>
      </p:sp>
      <p:sp>
        <p:nvSpPr>
          <p:cNvPr id="19" name="Text 17"/>
          <p:cNvSpPr txBox="1"/>
          <p:nvPr/>
        </p:nvSpPr>
        <p:spPr>
          <a:xfrm>
            <a:off x="6364224" y="2926080"/>
            <a:ext cx="2249424" cy="85953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Contracts and ID scans have their own rule, because file storage is reached directly by the browser.</a:t>
            </a:r>
            <a:endParaRPr lang="en-US" sz="1050" dirty="0"/>
          </a:p>
        </p:txBody>
      </p:sp>
      <p:sp>
        <p:nvSpPr>
          <p:cNvPr id="20" name="Shape 18"/>
          <p:cNvSpPr/>
          <p:nvPr/>
        </p:nvSpPr>
        <p:spPr>
          <a:xfrm>
            <a:off x="8961120" y="1737360"/>
            <a:ext cx="2651760" cy="2157984"/>
          </a:xfrm>
          <a:prstGeom prst="roundRect">
            <a:avLst>
              <a:gd name="adj" fmla="val 3390"/>
            </a:avLst>
          </a:prstGeom>
          <a:solidFill>
            <a:srgbClr val="F4F8FC"/>
          </a:solidFill>
          <a:ln w="12700">
            <a:solidFill>
              <a:srgbClr val="F4F8FC"/>
            </a:solidFill>
            <a:prstDash val="solid"/>
          </a:ln>
        </p:spPr>
      </p:sp>
      <p:sp>
        <p:nvSpPr>
          <p:cNvPr id="21" name="Shape 19"/>
          <p:cNvSpPr/>
          <p:nvPr/>
        </p:nvSpPr>
        <p:spPr>
          <a:xfrm>
            <a:off x="9162288" y="1920240"/>
            <a:ext cx="384048" cy="384048"/>
          </a:xfrm>
          <a:prstGeom prst="ellipse">
            <a:avLst/>
          </a:prstGeom>
          <a:solidFill>
            <a:srgbClr val="0E76BC"/>
          </a:solidFill>
          <a:ln/>
        </p:spPr>
      </p:sp>
      <p:sp>
        <p:nvSpPr>
          <p:cNvPr id="22" name="Text 20"/>
          <p:cNvSpPr txBox="1"/>
          <p:nvPr/>
        </p:nvSpPr>
        <p:spPr>
          <a:xfrm>
            <a:off x="9162288" y="19202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txBox="1"/>
          <p:nvPr/>
        </p:nvSpPr>
        <p:spPr>
          <a:xfrm>
            <a:off x="9162288" y="2395728"/>
            <a:ext cx="2249424" cy="512064"/>
          </a:xfrm>
          <a:prstGeom prst="rect">
            <a:avLst/>
          </a:prstGeom>
          <a:noFill/>
          <a:ln/>
        </p:spPr>
        <p:txBody>
          <a:bodyPr wrap="square" lIns="0" tIns="0" rIns="0" bIns="0" rtlCol="0" anchor="ctr"/>
          <a:lstStyle/>
          <a:p>
            <a:pPr indent="0" marL="0">
              <a:lnSpc>
                <a:spcPts val="1600"/>
              </a:lnSpc>
              <a:buNone/>
            </a:pPr>
            <a:r>
              <a:rPr lang="en-US" sz="1250" b="1" dirty="0">
                <a:solidFill>
                  <a:srgbClr val="16232E"/>
                </a:solidFill>
                <a:latin typeface="Calibri" pitchFamily="34" charset="0"/>
                <a:ea typeface="Calibri" pitchFamily="34" charset="-122"/>
                <a:cs typeface="Calibri" pitchFamily="34" charset="-120"/>
              </a:rPr>
              <a:t>Recorded permanently</a:t>
            </a:r>
            <a:endParaRPr lang="en-US" sz="1250" dirty="0"/>
          </a:p>
        </p:txBody>
      </p:sp>
      <p:sp>
        <p:nvSpPr>
          <p:cNvPr id="24" name="Text 22"/>
          <p:cNvSpPr txBox="1"/>
          <p:nvPr/>
        </p:nvSpPr>
        <p:spPr>
          <a:xfrm>
            <a:off x="9162288" y="2926080"/>
            <a:ext cx="2249424" cy="859536"/>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Every sign-in, edit, approval and download is written to an append-only audit trail.</a:t>
            </a:r>
            <a:endParaRPr lang="en-US" sz="1050" dirty="0"/>
          </a:p>
        </p:txBody>
      </p:sp>
      <p:sp>
        <p:nvSpPr>
          <p:cNvPr id="25" name="Text 23"/>
          <p:cNvSpPr txBox="1"/>
          <p:nvPr/>
        </p:nvSpPr>
        <p:spPr>
          <a:xfrm>
            <a:off x="566928" y="4059936"/>
            <a:ext cx="3520440" cy="310896"/>
          </a:xfrm>
          <a:prstGeom prst="rect">
            <a:avLst/>
          </a:prstGeom>
          <a:noFill/>
          <a:ln/>
        </p:spPr>
        <p:txBody>
          <a:bodyPr wrap="square" lIns="0" tIns="0" rIns="0" bIns="0" rtlCol="0" anchor="ctr"/>
          <a:lstStyle/>
          <a:p>
            <a:pPr indent="0" marL="0">
              <a:buNone/>
            </a:pPr>
            <a:r>
              <a:rPr lang="en-US" sz="1800" b="1" dirty="0">
                <a:solidFill>
                  <a:srgbClr val="0E76BC"/>
                </a:solidFill>
                <a:latin typeface="Cambria" pitchFamily="34" charset="0"/>
                <a:ea typeface="Cambria" pitchFamily="34" charset="-122"/>
                <a:cs typeface="Cambria" pitchFamily="34" charset="-120"/>
              </a:rPr>
              <a:t>5 attempts</a:t>
            </a:r>
            <a:endParaRPr lang="en-US" sz="1800" dirty="0"/>
          </a:p>
        </p:txBody>
      </p:sp>
      <p:sp>
        <p:nvSpPr>
          <p:cNvPr id="26" name="Text 24"/>
          <p:cNvSpPr txBox="1"/>
          <p:nvPr/>
        </p:nvSpPr>
        <p:spPr>
          <a:xfrm>
            <a:off x="566928" y="4370832"/>
            <a:ext cx="3520440" cy="548640"/>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then a 15-minute lockout on every code and password in the system</a:t>
            </a:r>
            <a:endParaRPr lang="en-US" sz="1050" dirty="0"/>
          </a:p>
        </p:txBody>
      </p:sp>
      <p:sp>
        <p:nvSpPr>
          <p:cNvPr id="27" name="Text 25"/>
          <p:cNvSpPr txBox="1"/>
          <p:nvPr/>
        </p:nvSpPr>
        <p:spPr>
          <a:xfrm>
            <a:off x="4270248" y="4059936"/>
            <a:ext cx="3520440" cy="310896"/>
          </a:xfrm>
          <a:prstGeom prst="rect">
            <a:avLst/>
          </a:prstGeom>
          <a:noFill/>
          <a:ln/>
        </p:spPr>
        <p:txBody>
          <a:bodyPr wrap="square" lIns="0" tIns="0" rIns="0" bIns="0" rtlCol="0" anchor="ctr"/>
          <a:lstStyle/>
          <a:p>
            <a:pPr indent="0" marL="0">
              <a:buNone/>
            </a:pPr>
            <a:r>
              <a:rPr lang="en-US" sz="1800" b="1" dirty="0">
                <a:solidFill>
                  <a:srgbClr val="0E76BC"/>
                </a:solidFill>
                <a:latin typeface="Cambria" pitchFamily="34" charset="0"/>
                <a:ea typeface="Cambria" pitchFamily="34" charset="-122"/>
                <a:cs typeface="Cambria" pitchFamily="34" charset="-120"/>
              </a:rPr>
              <a:t>2 issues found</a:t>
            </a:r>
            <a:endParaRPr lang="en-US" sz="1800" dirty="0"/>
          </a:p>
        </p:txBody>
      </p:sp>
      <p:sp>
        <p:nvSpPr>
          <p:cNvPr id="28" name="Text 26"/>
          <p:cNvSpPr txBox="1"/>
          <p:nvPr/>
        </p:nvSpPr>
        <p:spPr>
          <a:xfrm>
            <a:off x="4270248" y="4370832"/>
            <a:ext cx="3520440" cy="548640"/>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by attacking our own system — both closed before go-live</a:t>
            </a:r>
            <a:endParaRPr lang="en-US" sz="1050" dirty="0"/>
          </a:p>
        </p:txBody>
      </p:sp>
      <p:sp>
        <p:nvSpPr>
          <p:cNvPr id="29" name="Text 27"/>
          <p:cNvSpPr txBox="1"/>
          <p:nvPr/>
        </p:nvSpPr>
        <p:spPr>
          <a:xfrm>
            <a:off x="7973568" y="4059936"/>
            <a:ext cx="3520440" cy="310896"/>
          </a:xfrm>
          <a:prstGeom prst="rect">
            <a:avLst/>
          </a:prstGeom>
          <a:noFill/>
          <a:ln/>
        </p:spPr>
        <p:txBody>
          <a:bodyPr wrap="square" lIns="0" tIns="0" rIns="0" bIns="0" rtlCol="0" anchor="ctr"/>
          <a:lstStyle/>
          <a:p>
            <a:pPr indent="0" marL="0">
              <a:buNone/>
            </a:pPr>
            <a:r>
              <a:rPr lang="en-US" sz="1800" b="1" dirty="0">
                <a:solidFill>
                  <a:srgbClr val="0E76BC"/>
                </a:solidFill>
                <a:latin typeface="Cambria" pitchFamily="34" charset="0"/>
                <a:ea typeface="Cambria" pitchFamily="34" charset="-122"/>
                <a:cs typeface="Cambria" pitchFamily="34" charset="-120"/>
              </a:rPr>
              <a:t>Salary data</a:t>
            </a:r>
            <a:endParaRPr lang="en-US" sz="1800" dirty="0"/>
          </a:p>
        </p:txBody>
      </p:sp>
      <p:sp>
        <p:nvSpPr>
          <p:cNvPr id="30" name="Text 28"/>
          <p:cNvSpPr txBox="1"/>
          <p:nvPr/>
        </p:nvSpPr>
        <p:spPr>
          <a:xfrm>
            <a:off x="7973568" y="4370832"/>
            <a:ext cx="3520440" cy="548640"/>
          </a:xfrm>
          <a:prstGeom prst="rect">
            <a:avLst/>
          </a:prstGeom>
          <a:noFill/>
          <a:ln/>
        </p:spPr>
        <p:txBody>
          <a:bodyPr wrap="square" lIns="0" tIns="0" rIns="0" bIns="0" rtlCol="0" anchor="ctr"/>
          <a:lstStyle/>
          <a:p>
            <a:pPr indent="0" marL="0">
              <a:lnSpc>
                <a:spcPts val="1400"/>
              </a:lnSpc>
              <a:buNone/>
            </a:pPr>
            <a:r>
              <a:rPr lang="en-US" sz="1050" dirty="0">
                <a:solidFill>
                  <a:srgbClr val="5D6E7C"/>
                </a:solidFill>
                <a:latin typeface="Calibri" pitchFamily="34" charset="0"/>
                <a:ea typeface="Calibri" pitchFamily="34" charset="-122"/>
                <a:cs typeface="Calibri" pitchFamily="34" charset="-120"/>
              </a:rPr>
              <a:t>unreachable by any role except the finance manager</a:t>
            </a:r>
            <a:endParaRPr lang="en-US" sz="1050" dirty="0"/>
          </a:p>
        </p:txBody>
      </p:sp>
      <p:sp>
        <p:nvSpPr>
          <p:cNvPr id="31" name="Shape 29"/>
          <p:cNvSpPr/>
          <p:nvPr/>
        </p:nvSpPr>
        <p:spPr>
          <a:xfrm>
            <a:off x="566928" y="4974336"/>
            <a:ext cx="11055096" cy="859536"/>
          </a:xfrm>
          <a:prstGeom prst="roundRect">
            <a:avLst>
              <a:gd name="adj" fmla="val 8511"/>
            </a:avLst>
          </a:prstGeom>
          <a:solidFill>
            <a:srgbClr val="08375A"/>
          </a:solidFill>
          <a:ln w="12700">
            <a:solidFill>
              <a:srgbClr val="08375A"/>
            </a:solidFill>
            <a:prstDash val="solid"/>
          </a:ln>
        </p:spPr>
      </p:sp>
      <p:sp>
        <p:nvSpPr>
          <p:cNvPr id="32" name="Text 30"/>
          <p:cNvSpPr txBox="1"/>
          <p:nvPr/>
        </p:nvSpPr>
        <p:spPr>
          <a:xfrm>
            <a:off x="841248" y="5157216"/>
            <a:ext cx="10515600" cy="54864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Separation of duties, by design.  </a:t>
            </a:r>
            <a:pPr indent="0" marL="0">
              <a:lnSpc>
                <a:spcPts val="1800"/>
              </a:lnSpc>
              <a:buNone/>
            </a:pPr>
            <a:r>
              <a:rPr lang="en-US" sz="1250" dirty="0">
                <a:solidFill>
                  <a:srgbClr val="C7DCEC"/>
                </a:solidFill>
                <a:latin typeface="Calibri" pitchFamily="34" charset="0"/>
                <a:ea typeface="Calibri" pitchFamily="34" charset="-122"/>
                <a:cs typeface="Calibri" pitchFamily="34" charset="-120"/>
              </a:rPr>
              <a:t>Preparing payroll and approving it are different steps. Salary screens sit behind a second access code. Staff can reach their own documents and nothing else.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375A"/>
        </a:solidFill>
      </p:bgPr>
    </p:bg>
    <p:spTree>
      <p:nvGrpSpPr>
        <p:cNvPr id="1" name=""/>
        <p:cNvGrpSpPr/>
        <p:nvPr/>
      </p:nvGrpSpPr>
      <p:grpSpPr>
        <a:xfrm>
          <a:off x="0" y="0"/>
          <a:ext cx="0" cy="0"/>
          <a:chOff x="0" y="0"/>
          <a:chExt cx="0" cy="0"/>
        </a:xfrm>
      </p:grpSpPr>
      <p:sp>
        <p:nvSpPr>
          <p:cNvPr id="2" name="Text 0"/>
          <p:cNvSpPr txBox="1"/>
          <p:nvPr/>
        </p:nvSpPr>
        <p:spPr>
          <a:xfrm>
            <a:off x="566928" y="548640"/>
            <a:ext cx="7315200" cy="274320"/>
          </a:xfrm>
          <a:prstGeom prst="rect">
            <a:avLst/>
          </a:prstGeom>
          <a:noFill/>
          <a:ln/>
        </p:spPr>
        <p:txBody>
          <a:bodyPr wrap="square" lIns="0" tIns="0" rIns="0" bIns="0" rtlCol="0" anchor="ctr"/>
          <a:lstStyle/>
          <a:p>
            <a:pPr indent="0" marL="0">
              <a:buNone/>
            </a:pPr>
            <a:r>
              <a:rPr lang="en-US" sz="1200" b="1" spc="300" kern="0" dirty="0">
                <a:solidFill>
                  <a:srgbClr val="3E9BD6"/>
                </a:solidFill>
                <a:latin typeface="Calibri" pitchFamily="34" charset="0"/>
                <a:ea typeface="Calibri" pitchFamily="34" charset="-122"/>
                <a:cs typeface="Calibri" pitchFamily="34" charset="-120"/>
              </a:rPr>
              <a:t>WHERE WE ARE</a:t>
            </a:r>
            <a:endParaRPr lang="en-US" sz="1200" dirty="0"/>
          </a:p>
        </p:txBody>
      </p:sp>
      <p:sp>
        <p:nvSpPr>
          <p:cNvPr id="3" name="Text 1"/>
          <p:cNvSpPr txBox="1"/>
          <p:nvPr/>
        </p:nvSpPr>
        <p:spPr>
          <a:xfrm>
            <a:off x="566928" y="914400"/>
            <a:ext cx="10058400"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Working today, and what's left.</a:t>
            </a:r>
            <a:endParaRPr lang="en-US" sz="3200" dirty="0"/>
          </a:p>
        </p:txBody>
      </p:sp>
      <p:sp>
        <p:nvSpPr>
          <p:cNvPr id="4" name="Shape 2"/>
          <p:cNvSpPr/>
          <p:nvPr/>
        </p:nvSpPr>
        <p:spPr>
          <a:xfrm>
            <a:off x="566928" y="1755648"/>
            <a:ext cx="5431536" cy="3200400"/>
          </a:xfrm>
          <a:prstGeom prst="roundRect">
            <a:avLst>
              <a:gd name="adj" fmla="val 2286"/>
            </a:avLst>
          </a:prstGeom>
          <a:solidFill>
            <a:srgbClr val="0D4970"/>
          </a:solidFill>
          <a:ln w="12700">
            <a:solidFill>
              <a:srgbClr val="0D4970"/>
            </a:solidFill>
            <a:prstDash val="solid"/>
          </a:ln>
        </p:spPr>
      </p:sp>
      <p:sp>
        <p:nvSpPr>
          <p:cNvPr id="5" name="Text 3"/>
          <p:cNvSpPr txBox="1"/>
          <p:nvPr/>
        </p:nvSpPr>
        <p:spPr>
          <a:xfrm>
            <a:off x="841248" y="1920240"/>
            <a:ext cx="4937760" cy="292608"/>
          </a:xfrm>
          <a:prstGeom prst="rect">
            <a:avLst/>
          </a:prstGeom>
          <a:noFill/>
          <a:ln/>
        </p:spPr>
        <p:txBody>
          <a:bodyPr wrap="square" lIns="0" tIns="0" rIns="0" bIns="0" rtlCol="0" anchor="ctr"/>
          <a:lstStyle/>
          <a:p>
            <a:pPr indent="0" marL="0">
              <a:buNone/>
            </a:pPr>
            <a:r>
              <a:rPr lang="en-US" sz="1700" b="1" dirty="0">
                <a:solidFill>
                  <a:srgbClr val="7FD3A8"/>
                </a:solidFill>
                <a:latin typeface="Cambria" pitchFamily="34" charset="0"/>
                <a:ea typeface="Cambria" pitchFamily="34" charset="-122"/>
                <a:cs typeface="Cambria" pitchFamily="34" charset="-120"/>
              </a:rPr>
              <a:t>Working now</a:t>
            </a:r>
            <a:endParaRPr lang="en-US" sz="1700" dirty="0"/>
          </a:p>
        </p:txBody>
      </p:sp>
      <p:sp>
        <p:nvSpPr>
          <p:cNvPr id="6" name="Text 4"/>
          <p:cNvSpPr txBox="1"/>
          <p:nvPr/>
        </p:nvSpPr>
        <p:spPr>
          <a:xfrm>
            <a:off x="841248" y="2249424"/>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Payroll engine matched to your November figures</a:t>
            </a:r>
            <a:endParaRPr lang="en-US" sz="1000" dirty="0"/>
          </a:p>
        </p:txBody>
      </p:sp>
      <p:sp>
        <p:nvSpPr>
          <p:cNvPr id="7" name="Text 5"/>
          <p:cNvSpPr txBox="1"/>
          <p:nvPr/>
        </p:nvSpPr>
        <p:spPr>
          <a:xfrm>
            <a:off x="841248" y="2633472"/>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Payslips, P9s, register and cost-centre reports</a:t>
            </a:r>
            <a:endParaRPr lang="en-US" sz="1000" dirty="0"/>
          </a:p>
        </p:txBody>
      </p:sp>
      <p:sp>
        <p:nvSpPr>
          <p:cNvPr id="8" name="Text 6"/>
          <p:cNvSpPr txBox="1"/>
          <p:nvPr/>
        </p:nvSpPr>
        <p:spPr>
          <a:xfrm>
            <a:off x="841248" y="3017520"/>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AX journal in your own upload format, balanced</a:t>
            </a:r>
            <a:endParaRPr lang="en-US" sz="1000" dirty="0"/>
          </a:p>
        </p:txBody>
      </p:sp>
      <p:sp>
        <p:nvSpPr>
          <p:cNvPr id="9" name="Text 7"/>
          <p:cNvSpPr txBox="1"/>
          <p:nvPr/>
        </p:nvSpPr>
        <p:spPr>
          <a:xfrm>
            <a:off x="841248" y="3401568"/>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Bank batch file, matching your bank's own upload layout</a:t>
            </a:r>
            <a:endParaRPr lang="en-US" sz="1000" dirty="0"/>
          </a:p>
        </p:txBody>
      </p:sp>
      <p:sp>
        <p:nvSpPr>
          <p:cNvPr id="10" name="Text 8"/>
          <p:cNvSpPr txBox="1"/>
          <p:nvPr/>
        </p:nvSpPr>
        <p:spPr>
          <a:xfrm>
            <a:off x="841248" y="3785616"/>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iTax PAYE export for the KRA return</a:t>
            </a:r>
            <a:endParaRPr lang="en-US" sz="1000" dirty="0"/>
          </a:p>
        </p:txBody>
      </p:sp>
      <p:sp>
        <p:nvSpPr>
          <p:cNvPr id="11" name="Text 9"/>
          <p:cNvSpPr txBox="1"/>
          <p:nvPr/>
        </p:nvSpPr>
        <p:spPr>
          <a:xfrm>
            <a:off x="841248" y="4169664"/>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Employee portal and staff document store</a:t>
            </a:r>
            <a:endParaRPr lang="en-US" sz="1000" dirty="0"/>
          </a:p>
        </p:txBody>
      </p:sp>
      <p:sp>
        <p:nvSpPr>
          <p:cNvPr id="12" name="Text 10"/>
          <p:cNvSpPr txBox="1"/>
          <p:nvPr/>
        </p:nvSpPr>
        <p:spPr>
          <a:xfrm>
            <a:off x="841248" y="4553712"/>
            <a:ext cx="4937760" cy="365760"/>
          </a:xfrm>
          <a:prstGeom prst="rect">
            <a:avLst/>
          </a:prstGeom>
          <a:noFill/>
          <a:ln/>
        </p:spPr>
        <p:txBody>
          <a:bodyPr wrap="square" lIns="0" tIns="0" rIns="0" bIns="0" rtlCol="0" anchor="ctr"/>
          <a:lstStyle/>
          <a:p>
            <a:pPr marL="342900" indent="-342900">
              <a:lnSpc>
                <a:spcPts val="1350"/>
              </a:lnSpc>
              <a:buSzPct val="100000"/>
              <a:buChar char="•"/>
            </a:pPr>
            <a:r>
              <a:rPr lang="en-US" sz="1000" dirty="0">
                <a:solidFill>
                  <a:srgbClr val="D6E7F3"/>
                </a:solidFill>
                <a:latin typeface="Calibri" pitchFamily="34" charset="0"/>
                <a:ea typeface="Calibri" pitchFamily="34" charset="-122"/>
                <a:cs typeface="Calibri" pitchFamily="34" charset="-120"/>
              </a:rPr>
              <a:t>Roles, approval workflow and audit trail</a:t>
            </a:r>
            <a:endParaRPr lang="en-US" sz="1000" dirty="0"/>
          </a:p>
        </p:txBody>
      </p:sp>
      <p:sp>
        <p:nvSpPr>
          <p:cNvPr id="13" name="Shape 11"/>
          <p:cNvSpPr/>
          <p:nvPr/>
        </p:nvSpPr>
        <p:spPr>
          <a:xfrm>
            <a:off x="6190488" y="1755648"/>
            <a:ext cx="5431536" cy="3200400"/>
          </a:xfrm>
          <a:prstGeom prst="roundRect">
            <a:avLst>
              <a:gd name="adj" fmla="val 2286"/>
            </a:avLst>
          </a:prstGeom>
          <a:solidFill>
            <a:srgbClr val="0D4970"/>
          </a:solidFill>
          <a:ln w="12700">
            <a:solidFill>
              <a:srgbClr val="0D4970"/>
            </a:solidFill>
            <a:prstDash val="solid"/>
          </a:ln>
        </p:spPr>
      </p:sp>
      <p:sp>
        <p:nvSpPr>
          <p:cNvPr id="14" name="Text 12"/>
          <p:cNvSpPr txBox="1"/>
          <p:nvPr/>
        </p:nvSpPr>
        <p:spPr>
          <a:xfrm>
            <a:off x="6464808" y="1920240"/>
            <a:ext cx="4937760" cy="292608"/>
          </a:xfrm>
          <a:prstGeom prst="rect">
            <a:avLst/>
          </a:prstGeom>
          <a:noFill/>
          <a:ln/>
        </p:spPr>
        <p:txBody>
          <a:bodyPr wrap="square" lIns="0" tIns="0" rIns="0" bIns="0" rtlCol="0" anchor="ctr"/>
          <a:lstStyle/>
          <a:p>
            <a:pPr indent="0" marL="0">
              <a:buNone/>
            </a:pPr>
            <a:r>
              <a:rPr lang="en-US" sz="1700" b="1" dirty="0">
                <a:solidFill>
                  <a:srgbClr val="F0C674"/>
                </a:solidFill>
                <a:latin typeface="Cambria" pitchFamily="34" charset="0"/>
                <a:ea typeface="Cambria" pitchFamily="34" charset="-122"/>
                <a:cs typeface="Cambria" pitchFamily="34" charset="-120"/>
              </a:rPr>
              <a:t>Still to come</a:t>
            </a:r>
            <a:endParaRPr lang="en-US" sz="1700" dirty="0"/>
          </a:p>
        </p:txBody>
      </p:sp>
      <p:sp>
        <p:nvSpPr>
          <p:cNvPr id="15" name="Text 13"/>
          <p:cNvSpPr txBox="1"/>
          <p:nvPr/>
        </p:nvSpPr>
        <p:spPr>
          <a:xfrm>
            <a:off x="6464808" y="2286000"/>
            <a:ext cx="4937760" cy="384048"/>
          </a:xfrm>
          <a:prstGeom prst="rect">
            <a:avLst/>
          </a:prstGeom>
          <a:noFill/>
          <a:ln/>
        </p:spPr>
        <p:txBody>
          <a:bodyPr wrap="square" lIns="0" tIns="0" rIns="0" bIns="0" rtlCol="0" anchor="ctr"/>
          <a:lstStyle/>
          <a:p>
            <a:pPr marL="342900" indent="-342900">
              <a:lnSpc>
                <a:spcPts val="1400"/>
              </a:lnSpc>
              <a:buSzPct val="100000"/>
              <a:buChar char="•"/>
            </a:pPr>
            <a:r>
              <a:rPr lang="en-US" sz="1050" dirty="0">
                <a:solidFill>
                  <a:srgbClr val="D6E7F3"/>
                </a:solidFill>
                <a:latin typeface="Calibri" pitchFamily="34" charset="0"/>
                <a:ea typeface="Calibri" pitchFamily="34" charset="-122"/>
                <a:cs typeface="Calibri" pitchFamily="34" charset="-120"/>
              </a:rPr>
              <a:t>Live AX connection — the file is uploaded by hand today</a:t>
            </a:r>
            <a:endParaRPr lang="en-US" sz="1050" dirty="0"/>
          </a:p>
        </p:txBody>
      </p:sp>
      <p:sp>
        <p:nvSpPr>
          <p:cNvPr id="16" name="Text 14"/>
          <p:cNvSpPr txBox="1"/>
          <p:nvPr/>
        </p:nvSpPr>
        <p:spPr>
          <a:xfrm>
            <a:off x="6464808" y="2706624"/>
            <a:ext cx="4937760" cy="384048"/>
          </a:xfrm>
          <a:prstGeom prst="rect">
            <a:avLst/>
          </a:prstGeom>
          <a:noFill/>
          <a:ln/>
        </p:spPr>
        <p:txBody>
          <a:bodyPr wrap="square" lIns="0" tIns="0" rIns="0" bIns="0" rtlCol="0" anchor="ctr"/>
          <a:lstStyle/>
          <a:p>
            <a:pPr marL="342900" indent="-342900">
              <a:lnSpc>
                <a:spcPts val="1400"/>
              </a:lnSpc>
              <a:buSzPct val="100000"/>
              <a:buChar char="•"/>
            </a:pPr>
            <a:r>
              <a:rPr lang="en-US" sz="1050" dirty="0">
                <a:solidFill>
                  <a:srgbClr val="D6E7F3"/>
                </a:solidFill>
                <a:latin typeface="Calibri" pitchFamily="34" charset="0"/>
                <a:ea typeface="Calibri" pitchFamily="34" charset="-122"/>
                <a:cs typeface="Calibri" pitchFamily="34" charset="-120"/>
              </a:rPr>
              <a:t>Employee email addresses, for portal access</a:t>
            </a:r>
            <a:endParaRPr lang="en-US" sz="1050" dirty="0"/>
          </a:p>
        </p:txBody>
      </p:sp>
      <p:sp>
        <p:nvSpPr>
          <p:cNvPr id="17" name="Text 15"/>
          <p:cNvSpPr txBox="1"/>
          <p:nvPr/>
        </p:nvSpPr>
        <p:spPr>
          <a:xfrm>
            <a:off x="6464808" y="3127248"/>
            <a:ext cx="4937760" cy="384048"/>
          </a:xfrm>
          <a:prstGeom prst="rect">
            <a:avLst/>
          </a:prstGeom>
          <a:noFill/>
          <a:ln/>
        </p:spPr>
        <p:txBody>
          <a:bodyPr wrap="square" lIns="0" tIns="0" rIns="0" bIns="0" rtlCol="0" anchor="ctr"/>
          <a:lstStyle/>
          <a:p>
            <a:pPr marL="342900" indent="-342900">
              <a:lnSpc>
                <a:spcPts val="1400"/>
              </a:lnSpc>
              <a:buSzPct val="100000"/>
              <a:buChar char="•"/>
            </a:pPr>
            <a:r>
              <a:rPr lang="en-US" sz="1050" dirty="0">
                <a:solidFill>
                  <a:srgbClr val="D6E7F3"/>
                </a:solidFill>
                <a:latin typeface="Calibri" pitchFamily="34" charset="0"/>
                <a:ea typeface="Calibri" pitchFamily="34" charset="-122"/>
                <a:cs typeface="Calibri" pitchFamily="34" charset="-120"/>
              </a:rPr>
              <a:t>Your answers on the four open items</a:t>
            </a:r>
            <a:endParaRPr lang="en-US" sz="1050" dirty="0"/>
          </a:p>
        </p:txBody>
      </p:sp>
      <p:sp>
        <p:nvSpPr>
          <p:cNvPr id="18" name="Text 16"/>
          <p:cNvSpPr txBox="1"/>
          <p:nvPr/>
        </p:nvSpPr>
        <p:spPr>
          <a:xfrm>
            <a:off x="6464808" y="3547872"/>
            <a:ext cx="4937760" cy="384048"/>
          </a:xfrm>
          <a:prstGeom prst="rect">
            <a:avLst/>
          </a:prstGeom>
          <a:noFill/>
          <a:ln/>
        </p:spPr>
        <p:txBody>
          <a:bodyPr wrap="square" lIns="0" tIns="0" rIns="0" bIns="0" rtlCol="0" anchor="ctr"/>
          <a:lstStyle/>
          <a:p>
            <a:pPr marL="342900" indent="-342900">
              <a:lnSpc>
                <a:spcPts val="1400"/>
              </a:lnSpc>
              <a:buSzPct val="100000"/>
              <a:buChar char="•"/>
            </a:pPr>
            <a:r>
              <a:rPr lang="en-US" sz="1050" dirty="0">
                <a:solidFill>
                  <a:srgbClr val="D6E7F3"/>
                </a:solidFill>
                <a:latin typeface="Calibri" pitchFamily="34" charset="0"/>
                <a:ea typeface="Calibri" pitchFamily="34" charset="-122"/>
                <a:cs typeface="Calibri" pitchFamily="34" charset="-120"/>
              </a:rPr>
              <a:t>iTax export re-cut to your exact P10 layout — 3 columns to confirm</a:t>
            </a:r>
            <a:endParaRPr lang="en-US" sz="1050" dirty="0"/>
          </a:p>
        </p:txBody>
      </p:sp>
      <p:sp>
        <p:nvSpPr>
          <p:cNvPr id="19" name="Text 17"/>
          <p:cNvSpPr txBox="1"/>
          <p:nvPr/>
        </p:nvSpPr>
        <p:spPr>
          <a:xfrm>
            <a:off x="6464808" y="3968496"/>
            <a:ext cx="4937760" cy="384048"/>
          </a:xfrm>
          <a:prstGeom prst="rect">
            <a:avLst/>
          </a:prstGeom>
          <a:noFill/>
          <a:ln/>
        </p:spPr>
        <p:txBody>
          <a:bodyPr wrap="square" lIns="0" tIns="0" rIns="0" bIns="0" rtlCol="0" anchor="ctr"/>
          <a:lstStyle/>
          <a:p>
            <a:pPr marL="342900" indent="-342900">
              <a:lnSpc>
                <a:spcPts val="1400"/>
              </a:lnSpc>
              <a:buSzPct val="100000"/>
              <a:buChar char="•"/>
            </a:pPr>
            <a:r>
              <a:rPr lang="en-US" sz="1050" dirty="0">
                <a:solidFill>
                  <a:srgbClr val="D6E7F3"/>
                </a:solidFill>
                <a:latin typeface="Calibri" pitchFamily="34" charset="0"/>
                <a:ea typeface="Calibri" pitchFamily="34" charset="-122"/>
                <a:cs typeface="Calibri" pitchFamily="34" charset="-120"/>
              </a:rPr>
              <a:t>Two-factor sign-in for finance-manager accounts</a:t>
            </a:r>
            <a:endParaRPr lang="en-US" sz="1050" dirty="0"/>
          </a:p>
        </p:txBody>
      </p:sp>
      <p:sp>
        <p:nvSpPr>
          <p:cNvPr id="20" name="Text 18"/>
          <p:cNvSpPr txBox="1"/>
          <p:nvPr/>
        </p:nvSpPr>
        <p:spPr>
          <a:xfrm>
            <a:off x="566928" y="5120640"/>
            <a:ext cx="1060704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Next step: run one month in parallel.</a:t>
            </a:r>
            <a:endParaRPr lang="en-US" sz="1900" dirty="0"/>
          </a:p>
        </p:txBody>
      </p:sp>
      <p:sp>
        <p:nvSpPr>
          <p:cNvPr id="21" name="Text 19"/>
          <p:cNvSpPr txBox="1"/>
          <p:nvPr/>
        </p:nvSpPr>
        <p:spPr>
          <a:xfrm>
            <a:off x="566928" y="5468112"/>
            <a:ext cx="10607040" cy="310896"/>
          </a:xfrm>
          <a:prstGeom prst="rect">
            <a:avLst/>
          </a:prstGeom>
          <a:noFill/>
          <a:ln/>
        </p:spPr>
        <p:txBody>
          <a:bodyPr wrap="square" lIns="0" tIns="0" rIns="0" bIns="0" rtlCol="0" anchor="ctr"/>
          <a:lstStyle/>
          <a:p>
            <a:pPr indent="0" marL="0">
              <a:buNone/>
            </a:pPr>
            <a:r>
              <a:rPr lang="en-US" sz="1250" dirty="0">
                <a:solidFill>
                  <a:srgbClr val="9FC4DE"/>
                </a:solidFill>
                <a:latin typeface="Calibri" pitchFamily="34" charset="0"/>
                <a:ea typeface="Calibri" pitchFamily="34" charset="-122"/>
                <a:cs typeface="Calibri" pitchFamily="34" charset="-120"/>
              </a:rPr>
              <a:t>Do the next payroll both ways and compare. If it matches — as November did — the workbook can retire.</a:t>
            </a:r>
            <a:endParaRPr lang="en-US" sz="1250" dirty="0"/>
          </a:p>
        </p:txBody>
      </p:sp>
      <p:pic>
        <p:nvPicPr>
          <p:cNvPr id="22" name="Image 0" descr="nexora-mark.png">    </p:cNvPr>
          <p:cNvPicPr>
            <a:picLocks noChangeAspect="1"/>
          </p:cNvPicPr>
          <p:nvPr/>
        </p:nvPicPr>
        <p:blipFill>
          <a:blip r:embed="rId1"/>
          <a:stretch>
            <a:fillRect/>
          </a:stretch>
        </p:blipFill>
        <p:spPr>
          <a:xfrm>
            <a:off x="566928" y="5870448"/>
            <a:ext cx="365760" cy="365760"/>
          </a:xfrm>
          <a:prstGeom prst="rect">
            <a:avLst/>
          </a:prstGeom>
        </p:spPr>
      </p:pic>
      <p:sp>
        <p:nvSpPr>
          <p:cNvPr id="23" name="Text 20"/>
          <p:cNvSpPr txBox="1"/>
          <p:nvPr/>
        </p:nvSpPr>
        <p:spPr>
          <a:xfrm>
            <a:off x="1060704" y="5928970"/>
            <a:ext cx="2194560" cy="256032"/>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NEXORA</a:t>
            </a:r>
            <a:endParaRPr lang="en-US" sz="1100" dirty="0"/>
          </a:p>
        </p:txBody>
      </p:sp>
      <p:sp>
        <p:nvSpPr>
          <p:cNvPr id="24" name="Text 21"/>
          <p:cNvSpPr txBox="1"/>
          <p:nvPr/>
        </p:nvSpPr>
        <p:spPr>
          <a:xfrm>
            <a:off x="2395728" y="5943600"/>
            <a:ext cx="6400800" cy="274320"/>
          </a:xfrm>
          <a:prstGeom prst="rect">
            <a:avLst/>
          </a:prstGeom>
          <a:noFill/>
          <a:ln/>
        </p:spPr>
        <p:txBody>
          <a:bodyPr wrap="square" lIns="0" tIns="0" rIns="0" bIns="0" rtlCol="0" anchor="ctr"/>
          <a:lstStyle/>
          <a:p>
            <a:pPr indent="0" marL="0">
              <a:buNone/>
            </a:pPr>
            <a:r>
              <a:rPr lang="en-US" sz="1050" dirty="0">
                <a:solidFill>
                  <a:srgbClr val="7FA8C4"/>
                </a:solidFill>
                <a:latin typeface="Calibri" pitchFamily="34" charset="0"/>
                <a:ea typeface="Calibri" pitchFamily="34" charset="-122"/>
                <a:cs typeface="Calibri" pitchFamily="34" charset="-120"/>
              </a:rPr>
              <a:t>Payroll Automation  ·  September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Nexora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Nexora — Payroll Automation for Chrysal Africa</dc:title>
  <dc:subject>PptxGenJS Presentation</dc:subject>
  <dc:creator>Nexora</dc:creator>
  <cp:lastModifiedBy>Nexora</cp:lastModifiedBy>
  <cp:revision>1</cp:revision>
  <dcterms:created xsi:type="dcterms:W3CDTF">2026-09-09T00:29:18Z</dcterms:created>
  <dcterms:modified xsi:type="dcterms:W3CDTF">2026-09-09T00:29:18Z</dcterms:modified>
</cp:coreProperties>
</file>